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8ec87a82-e145-8dac-6cff-976d7e3358ee}">
          <p14:sldIdLst>
            <p14:sldId id="256"/>
            <p14:sldId id="257"/>
          </p14:sldIdLst>
        </p14:section>
        <p14:section name="Problema y datos" id="{8fdd5d78-fd06-dc41-265f-8f92338c0583}">
          <p14:sldIdLst>
            <p14:sldId id="258"/>
            <p14:sldId id="259"/>
          </p14:sldIdLst>
        </p14:section>
        <p14:section name="Metodología" id="{88ee0b8d-c5e3-12b1-9149-2251e3012632}">
          <p14:sldIdLst>
            <p14:sldId id="260"/>
          </p14:sldIdLst>
        </p14:section>
        <p14:section name="Resultados" id="{1f2b2b52-688f-bbde-273c-e66691b36479}">
          <p14:sldIdLst>
            <p14:sldId id="261"/>
            <p14:sldId id="262"/>
            <p14:sldId id="263"/>
            <p14:sldId id="264"/>
            <p14:sldId id="265"/>
            <p14:sldId id="266"/>
          </p14:sldIdLst>
        </p14:section>
        <p14:section name="Dashboard" id="{07455ba2-2ac9-a2d9-5b4c-8be51493318e}">
          <p14:sldIdLst>
            <p14:sldId id="267"/>
          </p14:sldIdLst>
        </p14:section>
        <p14:section name="Cierre" id="{07789215-eef5-88a3-c6a8-7d4cdcfa1d56}">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RMSE del NPI en prueba (menor es mejor)</a:t>
            </a:r>
          </a:p>
        </c:rich>
      </c:tx>
      <c:layout/>
      <c:overlay val="0"/>
    </c:title>
    <c:autoTitleDeleted val="0"/>
    <c:plotArea>
      <c:layout/>
      <c:barChart>
        <c:barDir val="bar"/>
        <c:grouping val="clustered"/>
        <c:varyColors val="0"/>
        <c:ser>
          <c:idx val="0"/>
          <c:order val="0"/>
          <c:tx>
            <c:strRef>
              <c:f>Sheet1!$B$1</c:f>
              <c:strCache>
                <c:ptCount val="1"/>
                <c:pt idx="0">
                  <c:v>RMSE en prueba</c:v>
                </c:pt>
              </c:strCache>
            </c:strRef>
          </c:tx>
          <c:spPr>
            <a:solidFill>
              <a:srgbClr val="9FB8C4"/>
            </a:solidFill>
            <a:effectLst/>
          </c:spPr>
          <c:invertIfNegative val="0"/>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9FB8C4"/>
              </a:solidFill>
              <a:effectLst/>
            </c:spPr>
          </c:dPt>
          <c:dPt>
            <c:idx val="1"/>
            <c:invertIfNegative val="0"/>
            <c:bubble3D val="0"/>
            <c:spPr>
              <a:solidFill>
                <a:srgbClr val="9FB8C4"/>
              </a:solidFill>
              <a:effectLst/>
            </c:spPr>
          </c:dPt>
          <c:dPt>
            <c:idx val="2"/>
            <c:invertIfNegative val="0"/>
            <c:bubble3D val="0"/>
            <c:spPr>
              <a:solidFill>
                <a:srgbClr val="147089"/>
              </a:solidFill>
              <a:effectLst/>
            </c:spPr>
          </c:dPt>
          <c:dPt>
            <c:idx val="3"/>
            <c:invertIfNegative val="0"/>
            <c:bubble3D val="0"/>
            <c:spPr>
              <a:solidFill>
                <a:srgbClr val="6DC2DE"/>
              </a:solidFill>
              <a:effectLst/>
            </c:spPr>
          </c:dPt>
          <c:dPt>
            <c:idx val="4"/>
            <c:invertIfNegative val="0"/>
            <c:bubble3D val="0"/>
            <c:spPr>
              <a:solidFill>
                <a:srgbClr val="6DC2DE"/>
              </a:solidFill>
              <a:effectLst/>
            </c:spPr>
          </c:dPt>
          <c:dPt>
            <c:idx val="5"/>
            <c:invertIfNegative val="0"/>
            <c:bubble3D val="0"/>
            <c:spPr>
              <a:solidFill>
                <a:srgbClr val="6DC2DE"/>
              </a:solidFill>
              <a:effectLst/>
            </c:spPr>
          </c:dPt>
          <c:cat>
            <c:multiLvlStrRef>
              <c:f>Sheet1!$A$2:$A$7</c:f>
              <c:multiLvlStrCache>
                <c:ptCount val="6"/>
                <c:lvl>
                  <c:pt idx="0">
                    <c:v>Dummy</c:v>
                  </c:pt>
                  <c:pt idx="1">
                    <c:v>Base (proliferación)</c:v>
                  </c:pt>
                  <c:pt idx="2">
                    <c:v>Ridge</c:v>
                  </c:pt>
                  <c:pt idx="3">
                    <c:v>ElasticNet</c:v>
                  </c:pt>
                  <c:pt idx="4">
                    <c:v>Random Forest</c:v>
                  </c:pt>
                  <c:pt idx="5">
                    <c:v>XGBoost</c:v>
                  </c:pt>
                </c:lvl>
              </c:multiLvlStrCache>
            </c:multiLvlStrRef>
          </c:cat>
          <c:val>
            <c:numRef>
              <c:f>Sheet1!$B$2:$B$7</c:f>
              <c:numCache>
                <c:formatCode>General</c:formatCode>
                <c:ptCount val="6"/>
                <c:pt idx="0">
                  <c:v>1.048</c:v>
                </c:pt>
                <c:pt idx="1">
                  <c:v>0.949</c:v>
                </c:pt>
                <c:pt idx="2">
                  <c:v>0.902</c:v>
                </c:pt>
                <c:pt idx="3">
                  <c:v>0.909</c:v>
                </c:pt>
                <c:pt idx="4">
                  <c:v>0.904</c:v>
                </c:pt>
                <c:pt idx="5">
                  <c:v>0.901</c:v>
                </c:pt>
              </c:numCache>
            </c:numRef>
          </c:val>
        </c:ser>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b"/>
        <c:majorGridlines>
          <c:spPr>
            <a:ln w="6350" cap="flat">
              <a:solidFill>
                <a:srgbClr val="EAF2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F1 macro del subtipo PAM50 en prueba</a:t>
            </a:r>
          </a:p>
        </c:rich>
      </c:tx>
      <c:layout/>
      <c:overlay val="0"/>
    </c:title>
    <c:autoTitleDeleted val="0"/>
    <c:plotArea>
      <c:layout/>
      <c:barChart>
        <c:barDir val="bar"/>
        <c:grouping val="clustered"/>
        <c:varyColors val="0"/>
        <c:ser>
          <c:idx val="0"/>
          <c:order val="0"/>
          <c:tx>
            <c:strRef>
              <c:f>Sheet1!$B$1</c:f>
              <c:strCache>
                <c:ptCount val="1"/>
                <c:pt idx="0">
                  <c:v>F1 macro en prueba</c:v>
                </c:pt>
              </c:strCache>
            </c:strRef>
          </c:tx>
          <c:spPr>
            <a:solidFill>
              <a:srgbClr val="147089"/>
            </a:solidFill>
            <a:effectLst/>
          </c:spPr>
          <c:invertIfNegative val="0"/>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147089"/>
              </a:solidFill>
              <a:effectLst/>
            </c:spPr>
          </c:dPt>
          <c:dPt>
            <c:idx val="1"/>
            <c:invertIfNegative val="0"/>
            <c:bubble3D val="0"/>
            <c:spPr>
              <a:solidFill>
                <a:srgbClr val="6DC2DE"/>
              </a:solidFill>
              <a:effectLst/>
            </c:spPr>
          </c:dPt>
          <c:dPt>
            <c:idx val="2"/>
            <c:invertIfNegative val="0"/>
            <c:bubble3D val="0"/>
            <c:spPr>
              <a:solidFill>
                <a:srgbClr val="6DC2DE"/>
              </a:solidFill>
              <a:effectLst/>
            </c:spPr>
          </c:dPt>
          <c:dPt>
            <c:idx val="3"/>
            <c:invertIfNegative val="0"/>
            <c:bubble3D val="0"/>
            <c:spPr>
              <a:solidFill>
                <a:srgbClr val="6DC2DE"/>
              </a:solidFill>
              <a:effectLst/>
            </c:spPr>
          </c:dPt>
          <c:dPt>
            <c:idx val="4"/>
            <c:invertIfNegative val="0"/>
            <c:bubble3D val="0"/>
            <c:spPr>
              <a:solidFill>
                <a:srgbClr val="6DC2DE"/>
              </a:solidFill>
              <a:effectLst/>
            </c:spPr>
          </c:dPt>
          <c:dPt>
            <c:idx val="5"/>
            <c:invertIfNegative val="0"/>
            <c:bubble3D val="0"/>
            <c:spPr>
              <a:solidFill>
                <a:srgbClr val="9FB8C4"/>
              </a:solidFill>
              <a:effectLst/>
            </c:spPr>
          </c:dPt>
          <c:cat>
            <c:multiLvlStrRef>
              <c:f>Sheet1!$A$2:$A$7</c:f>
              <c:multiLvlStrCache>
                <c:ptCount val="6"/>
                <c:lvl>
                  <c:pt idx="0">
                    <c:v>SelectKBest + logística (final)</c:v>
                  </c:pt>
                  <c:pt idx="1">
                    <c:v>SVM</c:v>
                  </c:pt>
                  <c:pt idx="2">
                    <c:v>Logística L2</c:v>
                  </c:pt>
                  <c:pt idx="3">
                    <c:v>XGBoost</c:v>
                  </c:pt>
                  <c:pt idx="4">
                    <c:v>MLP (PyTorch)</c:v>
                  </c:pt>
                  <c:pt idx="5">
                    <c:v>Base: logística básica</c:v>
                  </c:pt>
                </c:lvl>
              </c:multiLvlStrCache>
            </c:multiLvlStrRef>
          </c:cat>
          <c:val>
            <c:numRef>
              <c:f>Sheet1!$B$2:$B$7</c:f>
              <c:numCache>
                <c:formatCode>General</c:formatCode>
                <c:ptCount val="6"/>
                <c:pt idx="0">
                  <c:v>0.792</c:v>
                </c:pt>
                <c:pt idx="1">
                  <c:v>0.762</c:v>
                </c:pt>
                <c:pt idx="2">
                  <c:v>0.757</c:v>
                </c:pt>
                <c:pt idx="3">
                  <c:v>0.753</c:v>
                </c:pt>
                <c:pt idx="4">
                  <c:v>0.729</c:v>
                </c:pt>
                <c:pt idx="5">
                  <c:v>0.721</c:v>
                </c:pt>
              </c:numCache>
            </c:numRef>
          </c:val>
        </c:ser>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AF2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Mortalidad por cáncer por clúster</a:t>
            </a:r>
          </a:p>
        </c:rich>
      </c:tx>
      <c:layout/>
      <c:overlay val="0"/>
    </c:title>
    <c:autoTitleDeleted val="0"/>
    <c:plotArea>
      <c:layout/>
      <c:barChart>
        <c:barDir val="col"/>
        <c:grouping val="clustered"/>
        <c:varyColors val="0"/>
        <c:ser>
          <c:idx val="0"/>
          <c:order val="0"/>
          <c:tx>
            <c:strRef>
              <c:f>Sheet1!$B$1</c:f>
              <c:strCache>
                <c:ptCount val="1"/>
                <c:pt idx="0">
                  <c:v>Mortalidad por cáncer</c:v>
                </c:pt>
              </c:strCache>
            </c:strRef>
          </c:tx>
          <c:spPr>
            <a:solidFill>
              <a:srgbClr val="E97132"/>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E97132"/>
              </a:solidFill>
              <a:effectLst/>
            </c:spPr>
          </c:dPt>
          <c:dPt>
            <c:idx val="1"/>
            <c:invertIfNegative val="0"/>
            <c:bubble3D val="0"/>
            <c:spPr>
              <a:solidFill>
                <a:srgbClr val="147089"/>
              </a:solidFill>
              <a:effectLst/>
            </c:spPr>
          </c:dPt>
          <c:dPt>
            <c:idx val="2"/>
            <c:invertIfNegative val="0"/>
            <c:bubble3D val="0"/>
            <c:spPr>
              <a:solidFill>
                <a:srgbClr val="9FB8C4"/>
              </a:solidFill>
              <a:effectLst/>
            </c:spPr>
          </c:dPt>
          <c:dPt>
            <c:idx val="3"/>
            <c:invertIfNegative val="0"/>
            <c:bubble3D val="0"/>
            <c:spPr>
              <a:solidFill>
                <a:srgbClr val="6DC2DE"/>
              </a:solidFill>
              <a:effectLst/>
            </c:spPr>
          </c:dPt>
          <c:cat>
            <c:multiLvlStrRef>
              <c:f>Sheet1!$A$2:$A$5</c:f>
              <c:multiLvlStrCache>
                <c:ptCount val="4"/>
                <c:lvl>
                  <c:pt idx="0">
                    <c:v>Clúster 0 (ER−)</c:v>
                  </c:pt>
                  <c:pt idx="1">
                    <c:v>Clúster 1 (luminal)</c:v>
                  </c:pt>
                  <c:pt idx="2">
                    <c:v>Clúster 2 (lote)</c:v>
                  </c:pt>
                  <c:pt idx="3">
                    <c:v>Clúster 3 (luminal)</c:v>
                  </c:pt>
                </c:lvl>
              </c:multiLvlStrCache>
            </c:multiLvlStrRef>
          </c:cat>
          <c:val>
            <c:numRef>
              <c:f>Sheet1!$B$2:$B$5</c:f>
              <c:numCache>
                <c:formatCode>General</c:formatCode>
                <c:ptCount val="4"/>
                <c:pt idx="0">
                  <c:v>0.41</c:v>
                </c:pt>
                <c:pt idx="1">
                  <c:v>0.28</c:v>
                </c:pt>
                <c:pt idx="2">
                  <c:v>0.36</c:v>
                </c:pt>
                <c:pt idx="3">
                  <c:v>0.32</c:v>
                </c:pt>
              </c:numCache>
            </c:numRef>
          </c:val>
        </c:ser>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6350" cap="flat">
              <a:solidFill>
                <a:srgbClr val="EAF2F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Martín Gracia Socha y presento el Proyecto Integrador de Ciencia de Datos. Trabajé con METABRIC, un estudio de cáncer de mama que combina datos clínicos y genómicos, para responder tres preguntas sobre pronóstico, subtipo molecular y perfiles de pacientes. En los próximos quince minutos les mostraré el problema, los datos, la metodología, los resultados y el dashboard, y cerraré con las limitaciones.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Empiezo por las conclusiones. Primera: sin usar las variables con las que se calcula, la biología del tumor explica el 26 % de la variación del índice pronóstico de Nottingham. Segunda: la expresión génica identifica el subtipo molecular con un F1 macro de 0,79 y un AUC de 0,97 en pacientes que el modelo nunca vio. Tercera: los datos se agrupan en cuatro perfiles, aunque uno de ellos resultó ser un artefacto técnico. Todas estas cifras salen del conjunto de prueba, que se abrió una sola vez al final, y todas las metas SMART se cumplieron.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cáncer de mama es el cáncer más diagnosticado del mundo, con unos 2,3 millones de casos al año, y no es una sola enfermedad. Se clasifica en subtipos moleculares con pronósticos distintos, y en la clínica el pronóstico se resume con el NPI, que combina tamaño, ganglios y grado. Planteé tres preguntas, cada una con una meta medible. Primera, una regresión: ¿cuánto del NPI explica la biología, sin usar sus componentes? La meta era un R² de al menos 0,20. Segunda, una clasificación de seis subtipos con F1 macro de al menos 0,75 y bajo sobreajuste. Tercera, una segmentación no supervisada con al menos dos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METABRIC reúne 1.904 pacientes con 693 variables: 31 clínicas, la expresión de 489 genes y 173 indicadores de mutación. El análisis exploratorio mostró que Luminal A es el subtipo más común y que tres de cada cuatro tumores son positivos para receptores de estrógeno. Los genes de proliferación aumentan con el NPI, y en la proyección de componentes principales ya se ve que los subtipos se separan. Los faltantes no son aleatorios: el estadio falta en el 26,5 % de los casos y depende del centro de reclutamiento, así que lo excluí de los predictores.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metodológica más importante fue evitar la fuga de información. Primero apliqué solo reglas determinísticas, fila por fila; por ejemplo, deduje 18 grados faltantes de la propia fórmula del NPI. Después fijé una partición 70/15/15 estratificada por subtipo. Todo lo que aprende de los datos, como percentiles, imputación, escalado y codificación, quedó dentro de un pipeline que se ajusta solo con entrenamiento. Los hiperparámetros se eligieron con validación cruzada de cinco pliegues, y las reglas para escoger el modelo final se fijaron antes de ver la prueba. Además, quité del problema de regresión el tamaño, los ganglios y el grado, porque el NPI se calcula con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regresión comparé Ridge, ElasticNet, Random Forest y XGBoost. En la gráfica de error en prueba se ve que los cuatro quedan prácticamente empatados y todos mejoran al modelo base basado en proliferación. Ridge alcanza un R² de 0,26, por encima de la meta de 0,20. Como las diferencias entre modelos no son significativas, apliqué la regla de un error estándar y elegí el más simple. La lectura es que la señal biológica disponible es esencialmente lineal y está dominada por la proliferación.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clasificación, el contraste más claro es este: con solo los tres receptores que se miden en la clínica, ER, PR y HER2, el F1 es de 0,38; con la expresión génica sube a 0,79. El clasificador final alcanza un AUC de 0,97 y una exactitud del 80 %. La clase más difícil es Normal-like, que se confunde con Luminal A, algo que también reporta la literatura. La prueba de McNemar no distingue entre los mejores modelos, porque con 286 pacientes tiene poca potencia; por eso la elección se basó en la validación cruzada.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primeros clasificadores memorizaban: la brecha entre entrenamiento y validación cruzada estaba entre 0,22 y 0,27. Para corregirlo, seleccioné los 200 genes más informativos dentro de cada pliegue y usé una regresión logística muy regularizada. La brecha bajó a 0,123, por debajo de la meta de 0,15, sin perder desempeño. Quiero subrayar que la configuración con el F1 más alto se descartó porque no cumplía la regla de sobreajuste fijada de antemano.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confiar en un modelo hay que entender qué usa. Con valores SHAP, los modelos redescubren la biología conocida: ERBB2 identifica el subtipo HER2; GATA3 y ERBB3, los luminales; la proliferación separa Luminal A de Luminal B; EGFR y NOTCH1 señalan los tumores basales, y los genes inmunes caracterizan claudin-low. En la regresión, los genes de proliferación suben el NPI estimado y BCL2 lo baja. Esto da validez biológica a las predicciones.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segmentación reduje los genes a diez componentes principales y apliqué K-Means. El método del codo y la silueta coinciden en cuatro grupos, que son muy estables entre submuestras. Comparé con el clustering jerárquico de Ward, y descarté DBSCAN porque dejaba a buena parte de las pacientes como ruido. El clúster 0 reúne tumores receptor negativos, muy proliferativos y con TP53 mutado, y tiene la mayor mortalidad por cáncer, 41 %, frente a 28 % del grupo luminal de baja proliferación.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un hallazgo que no esperaba. El 82,6 % del clúster 2 viene de una sola cohorte, la C3, que solo representa el 38,5 % de la muestra, y sus genes no forman una firma biológica coherente. Lo más probable es que ese grupo refleje diferencias técnicas entre centros, lo que se llama efecto de lote. La lección metodológica es que los resultados no supervisados siempre deben contrastarse con variables externas. Aun así, la segmentación en conjunto se explica mucho más por la biología que por la cohorte.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esto se comunica en un dashboard publicado en Streamlit. Voy a hacer una demostración breve. Primero, el resumen con los indicadores y las curvas de supervivencia. Si filtro por el subtipo Basal, cambian los indicadores. En la pestaña de predicción elijo una paciente de prueba, subo la expresión de ERBB2 y cambio HER2 a positivo, y la probabilidad del subtipo HER2 aumenta. En segmentación la ubico entre los clústeres, en 2D o 3D. [Si no hay conexión, mostrar la captura de esta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el cumplimiento de las metas. En regresión, R² de 0,26 frente a una meta de 0,20 y mejor error que el modelo base. En clasificación, F1 de 0,79 frente a 0,75, mejor que el modelo base en validación cruzada y con una brecha de sobreajuste de 0,12. En segmentación, cuatro perfiles justificados con el codo y la silueta, un segundo algoritmo y perfiles interpretables. Las seis metas se cumplieron.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trabajo tiene limitaciones. La prueba es pequeña, los datos vienen de un solo estudio sin validación externa, se usaron 489 genes preseleccionados y el NPI es solo una aproximación al pronóstico. Como próximos pasos propongo corregir el efecto de lote con ComBat, modelar la supervivencia directamente, validar en una cohorte externa como TCGA y calibrar las probabilidades antes de cualquier uso clínico.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 biología del tumor anticipa parte del pronóstico, identifica el subtipo con alta precisión y agrupa a las pacientes en perfiles de riesgo, con un diseño reproducible y sin fuga de información. El código, los cuadernos y el dashboard están en el repositorio público. Muchas gracias;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PORTADA-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tmp/claude-0/-home-claude/f8fa47e6-1c62-5f94-829a-db6df9aa7a31/scratchpad/tpl/u/ppt/media/image-1003-1.png">    </p:cNvPr>
          <p:cNvPicPr>
            <a:picLocks noChangeAspect="1"/>
          </p:cNvPicPr>
          <p:nvPr/>
        </p:nvPicPr>
        <p:blipFill>
          <a:blip r:embed="rId1"/>
          <a:stretch>
            <a:fillRect/>
          </a:stretch>
        </p:blipFill>
        <p:spPr>
          <a:xfrm>
            <a:off x="320040" y="128016"/>
            <a:ext cx="1316736" cy="457200"/>
          </a:xfrm>
          <a:prstGeom prst="rect">
            <a:avLst/>
          </a:prstGeom>
        </p:spPr>
      </p:pic>
      <p:sp>
        <p:nvSpPr>
          <p:cNvPr id="3" name="Text 0"/>
          <p:cNvSpPr/>
          <p:nvPr/>
        </p:nvSpPr>
        <p:spPr>
          <a:xfrm>
            <a:off x="5669280" y="164592"/>
            <a:ext cx="3154680" cy="274320"/>
          </a:xfrm>
          <a:prstGeom prst="rect">
            <a:avLst/>
          </a:prstGeom>
          <a:noFill/>
          <a:ln/>
        </p:spPr>
        <p:txBody>
          <a:bodyPr wrap="square" lIns="0" tIns="0" rIns="0" bIns="0" rtlCol="0" anchor="ctr"/>
          <a:lstStyle/>
          <a:p>
            <a:pPr algn="r" indent="0" marL="0">
              <a:buNone/>
            </a:pPr>
            <a:r>
              <a:rPr lang="en-US" sz="1100" b="1" dirty="0">
                <a:solidFill>
                  <a:schemeClr val="tx2"/>
                </a:solidFill>
              </a:rPr>
              <a:t>Maestría en Inteligencia Artificial</a:t>
            </a:r>
            <a:endParaRPr lang="en-US" sz="1100" dirty="0"/>
          </a:p>
        </p:txBody>
      </p:sp>
      <p:sp>
        <p:nvSpPr>
          <p:cNvPr id="4" name="Text 1"/>
          <p:cNvSpPr/>
          <p:nvPr/>
        </p:nvSpPr>
        <p:spPr>
          <a:xfrm>
            <a:off x="457200" y="4818888"/>
            <a:ext cx="7498080" cy="228600"/>
          </a:xfrm>
          <a:prstGeom prst="rect">
            <a:avLst/>
          </a:prstGeom>
          <a:noFill/>
          <a:ln/>
        </p:spPr>
        <p:txBody>
          <a:bodyPr wrap="square" lIns="0" tIns="0" rIns="0" bIns="0" rtlCol="0" anchor="ctr"/>
          <a:lstStyle/>
          <a:p>
            <a:pPr indent="0" marL="0">
              <a:buNone/>
            </a:pPr>
            <a:r>
              <a:rPr lang="en-US" sz="900" dirty="0">
                <a:solidFill>
                  <a:schemeClr val="accent5"/>
                </a:solidFill>
              </a:rPr>
              <a:t>Proyecto Integrador METABRIC · Ciencia de Datos · Universidad de La Salle · Noviembre de 2026</a:t>
            </a:r>
            <a:endParaRPr lang="en-US" sz="900" dirty="0"/>
          </a:p>
        </p:txBody>
      </p:sp>
      <p:sp>
        <p:nvSpPr>
          <p:cNvPr id="5" name="Text 2"/>
          <p:cNvSpPr/>
          <p:nvPr>
            <p:ph idx="103" type="title" hasCustomPrompt="1"/>
          </p:nvPr>
        </p:nvSpPr>
        <p:spPr>
          <a:xfrm>
            <a:off x="457200" y="658368"/>
            <a:ext cx="8229600" cy="566928"/>
          </a:xfrm>
          <a:prstGeom prst="rect">
            <a:avLst/>
          </a:prstGeom>
          <a:noFill/>
          <a:ln/>
        </p:spPr>
        <p:txBody>
          <a:bodyPr wrap="square" rtlCol="0"/>
          <a:lstStyle>
            <a:lvl1pPr algn="l" indent="0" marL="0">
              <a:buNone/>
              <a:defRPr lang="en-US" sz="2200" b="1" dirty="0">
                <a:solidFill>
                  <a:schemeClr val="accent1"/>
                </a:solidFill>
              </a:defRPr>
            </a:lvl1pPr>
          </a:lstStyle>
          <a:p>
            <a:pPr algn="l" indent="0" marL="0">
              <a:buNone/>
            </a:pPr>
            <a:r>
              <a:rPr lang="en-US" sz="2200" b="1" dirty="0">
                <a:solidFill>
                  <a:schemeClr val="accent1"/>
                </a:solidFill>
              </a:rPr>
              <a:t>Título</a:t>
            </a:r>
            <a:endParaRPr lang="en-US" sz="2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4708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ecuadro portada"/>
          <p:cNvSpPr/>
          <p:nvPr/>
        </p:nvSpPr>
        <p:spPr>
          <a:xfrm>
            <a:off x="1051560" y="1874520"/>
            <a:ext cx="7040880" cy="1737360"/>
          </a:xfrm>
          <a:prstGeom prst="rect">
            <a:avLst/>
          </a:prstGeom>
          <a:solidFill>
            <a:schemeClr val="tx2"/>
          </a:solidFill>
          <a:ln w="12700">
            <a:solidFill>
              <a:schemeClr val="tx2"/>
            </a:solidFill>
            <a:prstDash val="solid"/>
          </a:ln>
        </p:spPr>
      </p:sp>
      <p:sp>
        <p:nvSpPr>
          <p:cNvPr id="3" name="Text 1"/>
          <p:cNvSpPr txBox="1"/>
          <p:nvPr/>
        </p:nvSpPr>
        <p:spPr>
          <a:xfrm>
            <a:off x="1280160" y="1993392"/>
            <a:ext cx="6583680" cy="320040"/>
          </a:xfrm>
          <a:prstGeom prst="rect">
            <a:avLst/>
          </a:prstGeom>
          <a:noFill/>
          <a:ln/>
        </p:spPr>
        <p:txBody>
          <a:bodyPr wrap="square" lIns="0" tIns="0" rIns="0" bIns="0" rtlCol="0" anchor="ctr"/>
          <a:lstStyle/>
          <a:p>
            <a:pPr indent="0" marL="0">
              <a:buNone/>
            </a:pPr>
            <a:r>
              <a:rPr lang="en-US" sz="1400" b="1" dirty="0">
                <a:solidFill>
                  <a:schemeClr val="accent2"/>
                </a:solidFill>
              </a:rPr>
              <a:t>Proyecto Integrador · Ciencia de Datos</a:t>
            </a:r>
            <a:endParaRPr lang="en-US" sz="1400" dirty="0"/>
          </a:p>
        </p:txBody>
      </p:sp>
      <p:sp>
        <p:nvSpPr>
          <p:cNvPr id="4" name="Text 2"/>
          <p:cNvSpPr txBox="1"/>
          <p:nvPr/>
        </p:nvSpPr>
        <p:spPr>
          <a:xfrm>
            <a:off x="1280160" y="2304288"/>
            <a:ext cx="6583680" cy="777240"/>
          </a:xfrm>
          <a:prstGeom prst="rect">
            <a:avLst/>
          </a:prstGeom>
          <a:noFill/>
          <a:ln/>
        </p:spPr>
        <p:txBody>
          <a:bodyPr wrap="square" lIns="0" tIns="0" rIns="0" bIns="0" rtlCol="0" anchor="ctr"/>
          <a:lstStyle/>
          <a:p>
            <a:pPr indent="0" marL="0">
              <a:buNone/>
            </a:pPr>
            <a:r>
              <a:rPr lang="en-US" sz="2200" b="1" dirty="0">
                <a:solidFill>
                  <a:schemeClr val="bg1"/>
                </a:solidFill>
              </a:rPr>
              <a:t>Pronóstico y subtipo molecular del cáncer de mama con datos clínicos y genómicos de METABRIC</a:t>
            </a:r>
            <a:endParaRPr lang="en-US" sz="2200" dirty="0"/>
          </a:p>
        </p:txBody>
      </p:sp>
      <p:sp>
        <p:nvSpPr>
          <p:cNvPr id="5" name="Text 3"/>
          <p:cNvSpPr txBox="1"/>
          <p:nvPr/>
        </p:nvSpPr>
        <p:spPr>
          <a:xfrm>
            <a:off x="1280160" y="3127248"/>
            <a:ext cx="6583680" cy="228600"/>
          </a:xfrm>
          <a:prstGeom prst="rect">
            <a:avLst/>
          </a:prstGeom>
          <a:noFill/>
          <a:ln/>
        </p:spPr>
        <p:txBody>
          <a:bodyPr wrap="square" lIns="0" tIns="0" rIns="0" bIns="0" rtlCol="0" anchor="t"/>
          <a:lstStyle/>
          <a:p>
            <a:pPr indent="0" marL="0">
              <a:buNone/>
            </a:pPr>
            <a:r>
              <a:rPr lang="en-US" sz="1200" dirty="0">
                <a:solidFill>
                  <a:schemeClr val="bg1"/>
                </a:solidFill>
              </a:rPr>
              <a:t>Martín Gracia Socha · Maestría en Inteligencia Artificial · Universidad de La Salle</a:t>
            </a:r>
            <a:endParaRPr lang="en-US" sz="1200" dirty="0"/>
          </a:p>
        </p:txBody>
      </p:sp>
      <p:sp>
        <p:nvSpPr>
          <p:cNvPr id="6" name="Text 4"/>
          <p:cNvSpPr txBox="1"/>
          <p:nvPr/>
        </p:nvSpPr>
        <p:spPr>
          <a:xfrm>
            <a:off x="1280160" y="3346704"/>
            <a:ext cx="6583680" cy="228600"/>
          </a:xfrm>
          <a:prstGeom prst="rect">
            <a:avLst/>
          </a:prstGeom>
          <a:noFill/>
          <a:ln/>
        </p:spPr>
        <p:txBody>
          <a:bodyPr wrap="square" lIns="0" tIns="0" rIns="0" bIns="0" rtlCol="0" anchor="t"/>
          <a:lstStyle/>
          <a:p>
            <a:pPr indent="0" marL="0">
              <a:buNone/>
            </a:pPr>
            <a:r>
              <a:rPr lang="en-US" sz="1100" dirty="0">
                <a:solidFill>
                  <a:schemeClr val="accent3"/>
                </a:solidFill>
              </a:rPr>
              <a:t>Sustentación final · Docente: Fabián Camilo Castro Riveros · Noviembre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La genómica predice el subtipo con F1 de 0,79 y mejora el pronóstico</a:t>
            </a:r>
            <a:endParaRPr lang="en-US" sz="2200" dirty="0"/>
          </a:p>
        </p:txBody>
      </p:sp>
      <p:sp>
        <p:nvSpPr>
          <p:cNvPr id="3" name="Tarjeta 0,260"/>
          <p:cNvSpPr/>
          <p:nvPr/>
        </p:nvSpPr>
        <p:spPr>
          <a:xfrm>
            <a:off x="457200" y="1481328"/>
            <a:ext cx="1920240" cy="2331720"/>
          </a:xfrm>
          <a:prstGeom prst="rect">
            <a:avLst/>
          </a:prstGeom>
          <a:solidFill>
            <a:schemeClr val="bg2"/>
          </a:solidFill>
          <a:ln w="12700">
            <a:solidFill>
              <a:schemeClr val="bg2"/>
            </a:solidFill>
            <a:prstDash val="solid"/>
          </a:ln>
        </p:spPr>
      </p:sp>
      <p:sp>
        <p:nvSpPr>
          <p:cNvPr id="4" name="Text 2"/>
          <p:cNvSpPr txBox="1"/>
          <p:nvPr/>
        </p:nvSpPr>
        <p:spPr>
          <a:xfrm>
            <a:off x="621792" y="1664208"/>
            <a:ext cx="1591056" cy="685800"/>
          </a:xfrm>
          <a:prstGeom prst="rect">
            <a:avLst/>
          </a:prstGeom>
          <a:noFill/>
          <a:ln/>
        </p:spPr>
        <p:txBody>
          <a:bodyPr wrap="square" lIns="0" tIns="0" rIns="0" bIns="0" rtlCol="0" anchor="ctr"/>
          <a:lstStyle/>
          <a:p>
            <a:pPr indent="0" marL="0">
              <a:buNone/>
            </a:pPr>
            <a:r>
              <a:rPr lang="en-US" sz="3600" b="1" dirty="0">
                <a:solidFill>
                  <a:schemeClr val="accent1"/>
                </a:solidFill>
              </a:rPr>
              <a:t>0,260</a:t>
            </a:r>
            <a:endParaRPr lang="en-US" sz="3600" dirty="0"/>
          </a:p>
        </p:txBody>
      </p:sp>
      <p:sp>
        <p:nvSpPr>
          <p:cNvPr id="5" name="Text 3"/>
          <p:cNvSpPr txBox="1"/>
          <p:nvPr/>
        </p:nvSpPr>
        <p:spPr>
          <a:xfrm>
            <a:off x="621792" y="2395728"/>
            <a:ext cx="1591056" cy="1280160"/>
          </a:xfrm>
          <a:prstGeom prst="rect">
            <a:avLst/>
          </a:prstGeom>
          <a:noFill/>
          <a:ln/>
        </p:spPr>
        <p:txBody>
          <a:bodyPr wrap="square" lIns="0" tIns="0" rIns="0" bIns="0" rtlCol="0" anchor="t"/>
          <a:lstStyle/>
          <a:p>
            <a:pPr indent="0" marL="0">
              <a:buNone/>
            </a:pPr>
            <a:r>
              <a:rPr lang="en-US" sz="1150" dirty="0">
                <a:solidFill>
                  <a:schemeClr val="tx1"/>
                </a:solidFill>
              </a:rPr>
              <a:t>R² del NPI en prueba, sin usar tamaño, ganglios ni grado</a:t>
            </a:r>
            <a:endParaRPr lang="en-US" sz="1150" dirty="0"/>
          </a:p>
        </p:txBody>
      </p:sp>
      <p:sp>
        <p:nvSpPr>
          <p:cNvPr id="6" name="Tarjeta 0,792"/>
          <p:cNvSpPr/>
          <p:nvPr/>
        </p:nvSpPr>
        <p:spPr>
          <a:xfrm>
            <a:off x="2560320" y="1481328"/>
            <a:ext cx="1920240" cy="2331720"/>
          </a:xfrm>
          <a:prstGeom prst="rect">
            <a:avLst/>
          </a:prstGeom>
          <a:solidFill>
            <a:schemeClr val="accent1"/>
          </a:solidFill>
          <a:ln w="12700">
            <a:solidFill>
              <a:schemeClr val="accent1"/>
            </a:solidFill>
            <a:prstDash val="solid"/>
          </a:ln>
        </p:spPr>
      </p:sp>
      <p:sp>
        <p:nvSpPr>
          <p:cNvPr id="7" name="Text 5"/>
          <p:cNvSpPr txBox="1"/>
          <p:nvPr/>
        </p:nvSpPr>
        <p:spPr>
          <a:xfrm>
            <a:off x="2724912" y="1664208"/>
            <a:ext cx="1591056" cy="685800"/>
          </a:xfrm>
          <a:prstGeom prst="rect">
            <a:avLst/>
          </a:prstGeom>
          <a:noFill/>
          <a:ln/>
        </p:spPr>
        <p:txBody>
          <a:bodyPr wrap="square" lIns="0" tIns="0" rIns="0" bIns="0" rtlCol="0" anchor="ctr"/>
          <a:lstStyle/>
          <a:p>
            <a:pPr indent="0" marL="0">
              <a:buNone/>
            </a:pPr>
            <a:r>
              <a:rPr lang="en-US" sz="3600" b="1" dirty="0">
                <a:solidFill>
                  <a:schemeClr val="bg1"/>
                </a:solidFill>
              </a:rPr>
              <a:t>0,792</a:t>
            </a:r>
            <a:endParaRPr lang="en-US" sz="3600" dirty="0"/>
          </a:p>
        </p:txBody>
      </p:sp>
      <p:sp>
        <p:nvSpPr>
          <p:cNvPr id="8" name="Text 6"/>
          <p:cNvSpPr txBox="1"/>
          <p:nvPr/>
        </p:nvSpPr>
        <p:spPr>
          <a:xfrm>
            <a:off x="2724912" y="2395728"/>
            <a:ext cx="1591056" cy="1280160"/>
          </a:xfrm>
          <a:prstGeom prst="rect">
            <a:avLst/>
          </a:prstGeom>
          <a:noFill/>
          <a:ln/>
        </p:spPr>
        <p:txBody>
          <a:bodyPr wrap="square" lIns="0" tIns="0" rIns="0" bIns="0" rtlCol="0" anchor="t"/>
          <a:lstStyle/>
          <a:p>
            <a:pPr indent="0" marL="0">
              <a:buNone/>
            </a:pPr>
            <a:r>
              <a:rPr lang="en-US" sz="1150" dirty="0">
                <a:solidFill>
                  <a:schemeClr val="bg1"/>
                </a:solidFill>
              </a:rPr>
              <a:t>F1 macro del subtipo PAM50 en prueba (meta: 0,75)</a:t>
            </a:r>
            <a:endParaRPr lang="en-US" sz="1150" dirty="0"/>
          </a:p>
        </p:txBody>
      </p:sp>
      <p:sp>
        <p:nvSpPr>
          <p:cNvPr id="9" name="Tarjeta 0,967"/>
          <p:cNvSpPr/>
          <p:nvPr/>
        </p:nvSpPr>
        <p:spPr>
          <a:xfrm>
            <a:off x="4663440" y="1481328"/>
            <a:ext cx="1920240" cy="2331720"/>
          </a:xfrm>
          <a:prstGeom prst="rect">
            <a:avLst/>
          </a:prstGeom>
          <a:solidFill>
            <a:schemeClr val="bg2"/>
          </a:solidFill>
          <a:ln w="12700">
            <a:solidFill>
              <a:schemeClr val="bg2"/>
            </a:solidFill>
            <a:prstDash val="solid"/>
          </a:ln>
        </p:spPr>
      </p:sp>
      <p:sp>
        <p:nvSpPr>
          <p:cNvPr id="10" name="Text 8"/>
          <p:cNvSpPr txBox="1"/>
          <p:nvPr/>
        </p:nvSpPr>
        <p:spPr>
          <a:xfrm>
            <a:off x="4828032" y="1664208"/>
            <a:ext cx="1591056" cy="685800"/>
          </a:xfrm>
          <a:prstGeom prst="rect">
            <a:avLst/>
          </a:prstGeom>
          <a:noFill/>
          <a:ln/>
        </p:spPr>
        <p:txBody>
          <a:bodyPr wrap="square" lIns="0" tIns="0" rIns="0" bIns="0" rtlCol="0" anchor="ctr"/>
          <a:lstStyle/>
          <a:p>
            <a:pPr indent="0" marL="0">
              <a:buNone/>
            </a:pPr>
            <a:r>
              <a:rPr lang="en-US" sz="3600" b="1" dirty="0">
                <a:solidFill>
                  <a:schemeClr val="accent1"/>
                </a:solidFill>
              </a:rPr>
              <a:t>0,967</a:t>
            </a:r>
            <a:endParaRPr lang="en-US" sz="3600" dirty="0"/>
          </a:p>
        </p:txBody>
      </p:sp>
      <p:sp>
        <p:nvSpPr>
          <p:cNvPr id="11" name="Text 9"/>
          <p:cNvSpPr txBox="1"/>
          <p:nvPr/>
        </p:nvSpPr>
        <p:spPr>
          <a:xfrm>
            <a:off x="4828032" y="2395728"/>
            <a:ext cx="1591056" cy="1280160"/>
          </a:xfrm>
          <a:prstGeom prst="rect">
            <a:avLst/>
          </a:prstGeom>
          <a:noFill/>
          <a:ln/>
        </p:spPr>
        <p:txBody>
          <a:bodyPr wrap="square" lIns="0" tIns="0" rIns="0" bIns="0" rtlCol="0" anchor="t"/>
          <a:lstStyle/>
          <a:p>
            <a:pPr indent="0" marL="0">
              <a:buNone/>
            </a:pPr>
            <a:r>
              <a:rPr lang="en-US" sz="1150" dirty="0">
                <a:solidFill>
                  <a:schemeClr val="tx1"/>
                </a:solidFill>
              </a:rPr>
              <a:t>AUC-ROC del clasificador final en seis subtipos</a:t>
            </a:r>
            <a:endParaRPr lang="en-US" sz="1150" dirty="0"/>
          </a:p>
        </p:txBody>
      </p:sp>
      <p:sp>
        <p:nvSpPr>
          <p:cNvPr id="12" name="Tarjeta 4"/>
          <p:cNvSpPr/>
          <p:nvPr/>
        </p:nvSpPr>
        <p:spPr>
          <a:xfrm>
            <a:off x="6766560" y="1481328"/>
            <a:ext cx="1920240" cy="2331720"/>
          </a:xfrm>
          <a:prstGeom prst="rect">
            <a:avLst/>
          </a:prstGeom>
          <a:solidFill>
            <a:schemeClr val="bg2"/>
          </a:solidFill>
          <a:ln w="12700">
            <a:solidFill>
              <a:schemeClr val="bg2"/>
            </a:solidFill>
            <a:prstDash val="solid"/>
          </a:ln>
        </p:spPr>
      </p:sp>
      <p:sp>
        <p:nvSpPr>
          <p:cNvPr id="13" name="Text 11"/>
          <p:cNvSpPr txBox="1"/>
          <p:nvPr/>
        </p:nvSpPr>
        <p:spPr>
          <a:xfrm>
            <a:off x="6931152" y="1664208"/>
            <a:ext cx="1591056" cy="685800"/>
          </a:xfrm>
          <a:prstGeom prst="rect">
            <a:avLst/>
          </a:prstGeom>
          <a:noFill/>
          <a:ln/>
        </p:spPr>
        <p:txBody>
          <a:bodyPr wrap="square" lIns="0" tIns="0" rIns="0" bIns="0" rtlCol="0" anchor="ctr"/>
          <a:lstStyle/>
          <a:p>
            <a:pPr indent="0" marL="0">
              <a:buNone/>
            </a:pPr>
            <a:r>
              <a:rPr lang="en-US" sz="3600" b="1" dirty="0">
                <a:solidFill>
                  <a:schemeClr val="accent1"/>
                </a:solidFill>
              </a:rPr>
              <a:t>4</a:t>
            </a:r>
            <a:endParaRPr lang="en-US" sz="3600" dirty="0"/>
          </a:p>
        </p:txBody>
      </p:sp>
      <p:sp>
        <p:nvSpPr>
          <p:cNvPr id="14" name="Text 12"/>
          <p:cNvSpPr txBox="1"/>
          <p:nvPr/>
        </p:nvSpPr>
        <p:spPr>
          <a:xfrm>
            <a:off x="6931152" y="2395728"/>
            <a:ext cx="1591056" cy="1280160"/>
          </a:xfrm>
          <a:prstGeom prst="rect">
            <a:avLst/>
          </a:prstGeom>
          <a:noFill/>
          <a:ln/>
        </p:spPr>
        <p:txBody>
          <a:bodyPr wrap="square" lIns="0" tIns="0" rIns="0" bIns="0" rtlCol="0" anchor="t"/>
          <a:lstStyle/>
          <a:p>
            <a:pPr indent="0" marL="0">
              <a:buNone/>
            </a:pPr>
            <a:r>
              <a:rPr lang="en-US" sz="1150" dirty="0">
                <a:solidFill>
                  <a:schemeClr val="tx1"/>
                </a:solidFill>
              </a:rPr>
              <a:t>perfiles de pacientes con K-Means; uno es un efecto de lote</a:t>
            </a:r>
            <a:endParaRPr lang="en-US" sz="1150" dirty="0"/>
          </a:p>
        </p:txBody>
      </p:sp>
      <p:sp>
        <p:nvSpPr>
          <p:cNvPr id="15" name="Text 13"/>
          <p:cNvSpPr txBox="1"/>
          <p:nvPr/>
        </p:nvSpPr>
        <p:spPr>
          <a:xfrm>
            <a:off x="457200" y="4407408"/>
            <a:ext cx="8229600" cy="320040"/>
          </a:xfrm>
          <a:prstGeom prst="rect">
            <a:avLst/>
          </a:prstGeom>
          <a:noFill/>
          <a:ln/>
        </p:spPr>
        <p:txBody>
          <a:bodyPr wrap="square" lIns="0" tIns="0" rIns="0" bIns="0" rtlCol="0" anchor="b"/>
          <a:lstStyle/>
          <a:p>
            <a:pPr indent="0" marL="0">
              <a:buNone/>
            </a:pPr>
            <a:r>
              <a:rPr lang="en-US" sz="950" i="1" dirty="0">
                <a:solidFill>
                  <a:schemeClr val="accent5"/>
                </a:solidFill>
              </a:rPr>
              <a:t>Resultados en el conjunto de prueba (286 pacientes), usado una sola vez. Todas las metas SMART se cumplieron.</a:t>
            </a:r>
            <a:endParaRPr lang="en-US" sz="95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Tres preguntas sobre 1.904 pacientes con cáncer de mama</a:t>
            </a:r>
            <a:endParaRPr lang="en-US" sz="2200" dirty="0"/>
          </a:p>
        </p:txBody>
      </p:sp>
      <p:sp>
        <p:nvSpPr>
          <p:cNvPr id="3" name="Número 1"/>
          <p:cNvSpPr/>
          <p:nvPr/>
        </p:nvSpPr>
        <p:spPr>
          <a:xfrm>
            <a:off x="457200" y="150876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457200" y="15087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24128" y="1463040"/>
            <a:ext cx="4572000" cy="292608"/>
          </a:xfrm>
          <a:prstGeom prst="rect">
            <a:avLst/>
          </a:prstGeom>
          <a:noFill/>
          <a:ln/>
        </p:spPr>
        <p:txBody>
          <a:bodyPr wrap="square" lIns="0" tIns="0" rIns="0" bIns="0" rtlCol="0" anchor="t"/>
          <a:lstStyle/>
          <a:p>
            <a:pPr indent="0" marL="0">
              <a:buNone/>
            </a:pPr>
            <a:r>
              <a:rPr lang="en-US" sz="1300" b="1" dirty="0">
                <a:solidFill>
                  <a:schemeClr val="tx2"/>
                </a:solidFill>
              </a:rPr>
              <a:t>¿Cuánto del pronóstico explica la biología del tumor?</a:t>
            </a:r>
            <a:endParaRPr lang="en-US" sz="1300" dirty="0"/>
          </a:p>
        </p:txBody>
      </p:sp>
      <p:sp>
        <p:nvSpPr>
          <p:cNvPr id="6" name="Text 4"/>
          <p:cNvSpPr txBox="1"/>
          <p:nvPr/>
        </p:nvSpPr>
        <p:spPr>
          <a:xfrm>
            <a:off x="1024128" y="1773936"/>
            <a:ext cx="4572000" cy="457200"/>
          </a:xfrm>
          <a:prstGeom prst="rect">
            <a:avLst/>
          </a:prstGeom>
          <a:noFill/>
          <a:ln/>
        </p:spPr>
        <p:txBody>
          <a:bodyPr wrap="square" lIns="0" tIns="0" rIns="0" bIns="0" rtlCol="0" anchor="t"/>
          <a:lstStyle/>
          <a:p>
            <a:pPr indent="0" marL="0">
              <a:buNone/>
            </a:pPr>
            <a:r>
              <a:rPr lang="en-US" sz="1100" dirty="0">
                <a:solidFill>
                  <a:schemeClr val="accent5"/>
                </a:solidFill>
              </a:rPr>
              <a:t>Regresión del Nottingham Prognostic Index (NPI) sin sus componentes. Meta: R² ≥ 0,20</a:t>
            </a:r>
            <a:endParaRPr lang="en-US" sz="1100" dirty="0"/>
          </a:p>
        </p:txBody>
      </p:sp>
      <p:sp>
        <p:nvSpPr>
          <p:cNvPr id="7" name="Número 2"/>
          <p:cNvSpPr/>
          <p:nvPr/>
        </p:nvSpPr>
        <p:spPr>
          <a:xfrm>
            <a:off x="457200" y="246888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457200" y="2468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24128" y="2423160"/>
            <a:ext cx="4572000" cy="292608"/>
          </a:xfrm>
          <a:prstGeom prst="rect">
            <a:avLst/>
          </a:prstGeom>
          <a:noFill/>
          <a:ln/>
        </p:spPr>
        <p:txBody>
          <a:bodyPr wrap="square" lIns="0" tIns="0" rIns="0" bIns="0" rtlCol="0" anchor="t"/>
          <a:lstStyle/>
          <a:p>
            <a:pPr indent="0" marL="0">
              <a:buNone/>
            </a:pPr>
            <a:r>
              <a:rPr lang="en-US" sz="1300" b="1" dirty="0">
                <a:solidFill>
                  <a:schemeClr val="tx2"/>
                </a:solidFill>
              </a:rPr>
              <a:t>¿Puede la expresión génica identificar el subtipo PAM50?</a:t>
            </a:r>
            <a:endParaRPr lang="en-US" sz="1300" dirty="0"/>
          </a:p>
        </p:txBody>
      </p:sp>
      <p:sp>
        <p:nvSpPr>
          <p:cNvPr id="10" name="Text 8"/>
          <p:cNvSpPr txBox="1"/>
          <p:nvPr/>
        </p:nvSpPr>
        <p:spPr>
          <a:xfrm>
            <a:off x="1024128" y="2734056"/>
            <a:ext cx="4572000" cy="457200"/>
          </a:xfrm>
          <a:prstGeom prst="rect">
            <a:avLst/>
          </a:prstGeom>
          <a:noFill/>
          <a:ln/>
        </p:spPr>
        <p:txBody>
          <a:bodyPr wrap="square" lIns="0" tIns="0" rIns="0" bIns="0" rtlCol="0" anchor="t"/>
          <a:lstStyle/>
          <a:p>
            <a:pPr indent="0" marL="0">
              <a:buNone/>
            </a:pPr>
            <a:r>
              <a:rPr lang="en-US" sz="1100" dirty="0">
                <a:solidFill>
                  <a:schemeClr val="accent5"/>
                </a:solidFill>
              </a:rPr>
              <a:t>Clasificación en seis subtipos. Meta: F1 macro ≥ 0,75 y brecha de sobreajuste &lt; 0,15</a:t>
            </a:r>
            <a:endParaRPr lang="en-US" sz="1100" dirty="0"/>
          </a:p>
        </p:txBody>
      </p:sp>
      <p:sp>
        <p:nvSpPr>
          <p:cNvPr id="11" name="Número 3"/>
          <p:cNvSpPr/>
          <p:nvPr/>
        </p:nvSpPr>
        <p:spPr>
          <a:xfrm>
            <a:off x="457200" y="342900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457200" y="3429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24128" y="3383280"/>
            <a:ext cx="4572000" cy="292608"/>
          </a:xfrm>
          <a:prstGeom prst="rect">
            <a:avLst/>
          </a:prstGeom>
          <a:noFill/>
          <a:ln/>
        </p:spPr>
        <p:txBody>
          <a:bodyPr wrap="square" lIns="0" tIns="0" rIns="0" bIns="0" rtlCol="0" anchor="t"/>
          <a:lstStyle/>
          <a:p>
            <a:pPr indent="0" marL="0">
              <a:buNone/>
            </a:pPr>
            <a:r>
              <a:rPr lang="en-US" sz="1300" b="1" dirty="0">
                <a:solidFill>
                  <a:schemeClr val="tx2"/>
                </a:solidFill>
              </a:rPr>
              <a:t>¿Se agrupan las pacientes en perfiles de riesgo?</a:t>
            </a:r>
            <a:endParaRPr lang="en-US" sz="1300" dirty="0"/>
          </a:p>
        </p:txBody>
      </p:sp>
      <p:sp>
        <p:nvSpPr>
          <p:cNvPr id="14" name="Text 12"/>
          <p:cNvSpPr txBox="1"/>
          <p:nvPr/>
        </p:nvSpPr>
        <p:spPr>
          <a:xfrm>
            <a:off x="1024128" y="3694176"/>
            <a:ext cx="4572000" cy="457200"/>
          </a:xfrm>
          <a:prstGeom prst="rect">
            <a:avLst/>
          </a:prstGeom>
          <a:noFill/>
          <a:ln/>
        </p:spPr>
        <p:txBody>
          <a:bodyPr wrap="square" lIns="0" tIns="0" rIns="0" bIns="0" rtlCol="0" anchor="t"/>
          <a:lstStyle/>
          <a:p>
            <a:pPr indent="0" marL="0">
              <a:buNone/>
            </a:pPr>
            <a:r>
              <a:rPr lang="en-US" sz="1100" dirty="0">
                <a:solidFill>
                  <a:schemeClr val="accent5"/>
                </a:solidFill>
              </a:rPr>
              <a:t>Segmentación no supervisada con dos algoritmos y perfiles interpretables</a:t>
            </a:r>
            <a:endParaRPr lang="en-US" sz="1100" dirty="0"/>
          </a:p>
        </p:txBody>
      </p:sp>
      <p:sp>
        <p:nvSpPr>
          <p:cNvPr id="15" name="Recuadro contexto"/>
          <p:cNvSpPr/>
          <p:nvPr/>
        </p:nvSpPr>
        <p:spPr>
          <a:xfrm>
            <a:off x="5943600" y="1417320"/>
            <a:ext cx="2743200" cy="2788920"/>
          </a:xfrm>
          <a:prstGeom prst="rect">
            <a:avLst/>
          </a:prstGeom>
          <a:solidFill>
            <a:schemeClr val="bg2"/>
          </a:solidFill>
          <a:ln w="12700">
            <a:solidFill>
              <a:schemeClr val="bg2"/>
            </a:solidFill>
            <a:prstDash val="solid"/>
          </a:ln>
        </p:spPr>
      </p:sp>
      <p:sp>
        <p:nvSpPr>
          <p:cNvPr id="16" name="Text 14"/>
          <p:cNvSpPr txBox="1"/>
          <p:nvPr/>
        </p:nvSpPr>
        <p:spPr>
          <a:xfrm>
            <a:off x="6126480" y="1554480"/>
            <a:ext cx="2377440" cy="274320"/>
          </a:xfrm>
          <a:prstGeom prst="rect">
            <a:avLst/>
          </a:prstGeom>
          <a:noFill/>
          <a:ln/>
        </p:spPr>
        <p:txBody>
          <a:bodyPr wrap="square" lIns="0" tIns="0" rIns="0" bIns="0" rtlCol="0" anchor="t"/>
          <a:lstStyle/>
          <a:p>
            <a:pPr indent="0" marL="0">
              <a:buNone/>
            </a:pPr>
            <a:r>
              <a:rPr lang="en-US" sz="1300" b="1" dirty="0">
                <a:solidFill>
                  <a:schemeClr val="accent1"/>
                </a:solidFill>
              </a:rPr>
              <a:t>Contexto</a:t>
            </a:r>
            <a:endParaRPr lang="en-US" sz="1300" dirty="0"/>
          </a:p>
        </p:txBody>
      </p:sp>
      <p:sp>
        <p:nvSpPr>
          <p:cNvPr id="17" name="Text 15"/>
          <p:cNvSpPr txBox="1"/>
          <p:nvPr/>
        </p:nvSpPr>
        <p:spPr>
          <a:xfrm>
            <a:off x="6126480" y="1920240"/>
            <a:ext cx="2423160" cy="21945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tx1"/>
                </a:solidFill>
              </a:rPr>
              <a:t>2,3 millones de casos nuevos al año en el mundo (Sung et al., 2021)</a:t>
            </a:r>
            <a:endParaRPr lang="en-US" sz="1100" dirty="0"/>
          </a:p>
          <a:p>
            <a:pPr marL="152400" indent="-152400">
              <a:spcAft>
                <a:spcPts val="600"/>
              </a:spcAft>
              <a:buSzPct val="100000"/>
              <a:buChar char="•"/>
            </a:pPr>
            <a:r>
              <a:rPr lang="en-US" sz="1100" dirty="0">
                <a:solidFill>
                  <a:schemeClr val="tx1"/>
                </a:solidFill>
              </a:rPr>
              <a:t>Seis subtipos moleculares con pronóstico distinto (Parker et al., 2009)</a:t>
            </a:r>
            <a:endParaRPr lang="en-US" sz="1100" dirty="0"/>
          </a:p>
          <a:p>
            <a:pPr marL="152400" indent="-152400">
              <a:spcAft>
                <a:spcPts val="600"/>
              </a:spcAft>
              <a:buSzPct val="100000"/>
              <a:buChar char="•"/>
            </a:pPr>
            <a:r>
              <a:rPr lang="en-US" sz="1100" dirty="0">
                <a:solidFill>
                  <a:schemeClr val="tx1"/>
                </a:solidFill>
              </a:rPr>
              <a:t>El NPI combina tamaño, ganglios y grado (Haybittle et al., 1982)</a:t>
            </a:r>
            <a:endParaRPr lang="en-US" sz="11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METABRIC une 31 variables clínicas con 489 genes y 173 mutaciones</a:t>
            </a:r>
            <a:endParaRPr lang="en-US" sz="2200" dirty="0"/>
          </a:p>
        </p:txBody>
      </p:sp>
      <p:sp>
        <p:nvSpPr>
          <p:cNvPr id="3" name="Dato 1.904"/>
          <p:cNvSpPr/>
          <p:nvPr/>
        </p:nvSpPr>
        <p:spPr>
          <a:xfrm>
            <a:off x="457200" y="1417320"/>
            <a:ext cx="1371600" cy="1234440"/>
          </a:xfrm>
          <a:prstGeom prst="rect">
            <a:avLst/>
          </a:prstGeom>
          <a:solidFill>
            <a:schemeClr val="bg2"/>
          </a:solidFill>
          <a:ln w="12700">
            <a:solidFill>
              <a:schemeClr val="bg2"/>
            </a:solidFill>
            <a:prstDash val="solid"/>
          </a:ln>
        </p:spPr>
      </p:sp>
      <p:sp>
        <p:nvSpPr>
          <p:cNvPr id="4" name="Text 2"/>
          <p:cNvSpPr txBox="1"/>
          <p:nvPr/>
        </p:nvSpPr>
        <p:spPr>
          <a:xfrm>
            <a:off x="566928" y="1481328"/>
            <a:ext cx="1188720" cy="457200"/>
          </a:xfrm>
          <a:prstGeom prst="rect">
            <a:avLst/>
          </a:prstGeom>
          <a:noFill/>
          <a:ln/>
        </p:spPr>
        <p:txBody>
          <a:bodyPr wrap="square" lIns="0" tIns="0" rIns="0" bIns="0" rtlCol="0" anchor="ctr"/>
          <a:lstStyle/>
          <a:p>
            <a:pPr indent="0" marL="0">
              <a:buNone/>
            </a:pPr>
            <a:r>
              <a:rPr lang="en-US" sz="2200" b="1" dirty="0">
                <a:solidFill>
                  <a:schemeClr val="accent1"/>
                </a:solidFill>
              </a:rPr>
              <a:t>1.904</a:t>
            </a:r>
            <a:endParaRPr lang="en-US" sz="2200" dirty="0"/>
          </a:p>
        </p:txBody>
      </p:sp>
      <p:sp>
        <p:nvSpPr>
          <p:cNvPr id="5" name="Text 3"/>
          <p:cNvSpPr txBox="1"/>
          <p:nvPr/>
        </p:nvSpPr>
        <p:spPr>
          <a:xfrm>
            <a:off x="566928" y="1956816"/>
            <a:ext cx="1188720" cy="640080"/>
          </a:xfrm>
          <a:prstGeom prst="rect">
            <a:avLst/>
          </a:prstGeom>
          <a:noFill/>
          <a:ln/>
        </p:spPr>
        <p:txBody>
          <a:bodyPr wrap="square" lIns="0" tIns="0" rIns="0" bIns="0" rtlCol="0" anchor="t"/>
          <a:lstStyle/>
          <a:p>
            <a:pPr indent="0" marL="0">
              <a:buNone/>
            </a:pPr>
            <a:r>
              <a:rPr lang="en-US" sz="1000" dirty="0">
                <a:solidFill>
                  <a:schemeClr val="tx1"/>
                </a:solidFill>
              </a:rPr>
              <a:t>pacientes de Reino Unido y Canadá</a:t>
            </a:r>
            <a:endParaRPr lang="en-US" sz="1000" dirty="0"/>
          </a:p>
        </p:txBody>
      </p:sp>
      <p:sp>
        <p:nvSpPr>
          <p:cNvPr id="6" name="Dato 693"/>
          <p:cNvSpPr/>
          <p:nvPr/>
        </p:nvSpPr>
        <p:spPr>
          <a:xfrm>
            <a:off x="1938528" y="1417320"/>
            <a:ext cx="1371600" cy="1234440"/>
          </a:xfrm>
          <a:prstGeom prst="rect">
            <a:avLst/>
          </a:prstGeom>
          <a:solidFill>
            <a:schemeClr val="bg2"/>
          </a:solidFill>
          <a:ln w="12700">
            <a:solidFill>
              <a:schemeClr val="bg2"/>
            </a:solidFill>
            <a:prstDash val="solid"/>
          </a:ln>
        </p:spPr>
      </p:sp>
      <p:sp>
        <p:nvSpPr>
          <p:cNvPr id="7" name="Text 5"/>
          <p:cNvSpPr txBox="1"/>
          <p:nvPr/>
        </p:nvSpPr>
        <p:spPr>
          <a:xfrm>
            <a:off x="2048256" y="1481328"/>
            <a:ext cx="1188720" cy="457200"/>
          </a:xfrm>
          <a:prstGeom prst="rect">
            <a:avLst/>
          </a:prstGeom>
          <a:noFill/>
          <a:ln/>
        </p:spPr>
        <p:txBody>
          <a:bodyPr wrap="square" lIns="0" tIns="0" rIns="0" bIns="0" rtlCol="0" anchor="ctr"/>
          <a:lstStyle/>
          <a:p>
            <a:pPr indent="0" marL="0">
              <a:buNone/>
            </a:pPr>
            <a:r>
              <a:rPr lang="en-US" sz="2200" b="1" dirty="0">
                <a:solidFill>
                  <a:schemeClr val="accent1"/>
                </a:solidFill>
              </a:rPr>
              <a:t>693</a:t>
            </a:r>
            <a:endParaRPr lang="en-US" sz="2200" dirty="0"/>
          </a:p>
        </p:txBody>
      </p:sp>
      <p:sp>
        <p:nvSpPr>
          <p:cNvPr id="8" name="Text 6"/>
          <p:cNvSpPr txBox="1"/>
          <p:nvPr/>
        </p:nvSpPr>
        <p:spPr>
          <a:xfrm>
            <a:off x="2048256" y="1956816"/>
            <a:ext cx="1188720" cy="640080"/>
          </a:xfrm>
          <a:prstGeom prst="rect">
            <a:avLst/>
          </a:prstGeom>
          <a:noFill/>
          <a:ln/>
        </p:spPr>
        <p:txBody>
          <a:bodyPr wrap="square" lIns="0" tIns="0" rIns="0" bIns="0" rtlCol="0" anchor="t"/>
          <a:lstStyle/>
          <a:p>
            <a:pPr indent="0" marL="0">
              <a:buNone/>
            </a:pPr>
            <a:r>
              <a:rPr lang="en-US" sz="1000" dirty="0">
                <a:solidFill>
                  <a:schemeClr val="tx1"/>
                </a:solidFill>
              </a:rPr>
              <a:t>variables por paciente</a:t>
            </a:r>
            <a:endParaRPr lang="en-US" sz="1000" dirty="0"/>
          </a:p>
        </p:txBody>
      </p:sp>
      <p:sp>
        <p:nvSpPr>
          <p:cNvPr id="9" name="Dato 26,5 %"/>
          <p:cNvSpPr/>
          <p:nvPr/>
        </p:nvSpPr>
        <p:spPr>
          <a:xfrm>
            <a:off x="3419856" y="1417320"/>
            <a:ext cx="1371600" cy="1234440"/>
          </a:xfrm>
          <a:prstGeom prst="rect">
            <a:avLst/>
          </a:prstGeom>
          <a:solidFill>
            <a:schemeClr val="bg2"/>
          </a:solidFill>
          <a:ln w="12700">
            <a:solidFill>
              <a:schemeClr val="bg2"/>
            </a:solidFill>
            <a:prstDash val="solid"/>
          </a:ln>
        </p:spPr>
      </p:sp>
      <p:sp>
        <p:nvSpPr>
          <p:cNvPr id="10" name="Text 8"/>
          <p:cNvSpPr txBox="1"/>
          <p:nvPr/>
        </p:nvSpPr>
        <p:spPr>
          <a:xfrm>
            <a:off x="3529584" y="1481328"/>
            <a:ext cx="1188720" cy="457200"/>
          </a:xfrm>
          <a:prstGeom prst="rect">
            <a:avLst/>
          </a:prstGeom>
          <a:noFill/>
          <a:ln/>
        </p:spPr>
        <p:txBody>
          <a:bodyPr wrap="square" lIns="0" tIns="0" rIns="0" bIns="0" rtlCol="0" anchor="ctr"/>
          <a:lstStyle/>
          <a:p>
            <a:pPr indent="0" marL="0">
              <a:buNone/>
            </a:pPr>
            <a:r>
              <a:rPr lang="en-US" sz="2200" b="1" dirty="0">
                <a:solidFill>
                  <a:schemeClr val="accent1"/>
                </a:solidFill>
              </a:rPr>
              <a:t>26,5 %</a:t>
            </a:r>
            <a:endParaRPr lang="en-US" sz="2200" dirty="0"/>
          </a:p>
        </p:txBody>
      </p:sp>
      <p:sp>
        <p:nvSpPr>
          <p:cNvPr id="11" name="Text 9"/>
          <p:cNvSpPr txBox="1"/>
          <p:nvPr/>
        </p:nvSpPr>
        <p:spPr>
          <a:xfrm>
            <a:off x="3529584" y="1956816"/>
            <a:ext cx="1188720" cy="640080"/>
          </a:xfrm>
          <a:prstGeom prst="rect">
            <a:avLst/>
          </a:prstGeom>
          <a:noFill/>
          <a:ln/>
        </p:spPr>
        <p:txBody>
          <a:bodyPr wrap="square" lIns="0" tIns="0" rIns="0" bIns="0" rtlCol="0" anchor="t"/>
          <a:lstStyle/>
          <a:p>
            <a:pPr indent="0" marL="0">
              <a:buNone/>
            </a:pPr>
            <a:r>
              <a:rPr lang="en-US" sz="1000" dirty="0">
                <a:solidFill>
                  <a:schemeClr val="tx1"/>
                </a:solidFill>
              </a:rPr>
              <a:t>máximo de faltantes (estadio); depende del centro</a:t>
            </a:r>
            <a:endParaRPr lang="en-US" sz="1000" dirty="0"/>
          </a:p>
        </p:txBody>
      </p:sp>
      <p:sp>
        <p:nvSpPr>
          <p:cNvPr id="12" name="Text 10"/>
          <p:cNvSpPr txBox="1"/>
          <p:nvPr/>
        </p:nvSpPr>
        <p:spPr>
          <a:xfrm>
            <a:off x="457200" y="2834640"/>
            <a:ext cx="4343400" cy="14630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chemeClr val="tx1"/>
                </a:solidFill>
              </a:rPr>
              <a:t>Luminal A es el subtipo más frecuente (36 %); el 77 % de los tumores son ER positivos</a:t>
            </a:r>
            <a:endParaRPr lang="en-US" sz="1150" dirty="0"/>
          </a:p>
          <a:p>
            <a:pPr marL="152400" indent="-152400">
              <a:spcAft>
                <a:spcPts val="600"/>
              </a:spcAft>
              <a:buSzPct val="100000"/>
              <a:buChar char="•"/>
            </a:pPr>
            <a:r>
              <a:rPr lang="en-US" sz="1150" dirty="0">
                <a:solidFill>
                  <a:schemeClr val="tx1"/>
                </a:solidFill>
              </a:rPr>
              <a:t>Los genes de proliferación suben con el NPI</a:t>
            </a:r>
            <a:endParaRPr lang="en-US" sz="1150" dirty="0"/>
          </a:p>
          <a:p>
            <a:pPr marL="152400" indent="-152400">
              <a:spcAft>
                <a:spcPts val="600"/>
              </a:spcAft>
              <a:buSzPct val="100000"/>
              <a:buChar char="•"/>
            </a:pPr>
            <a:r>
              <a:rPr lang="en-US" sz="1150" dirty="0">
                <a:solidFill>
                  <a:schemeClr val="tx1"/>
                </a:solidFill>
              </a:rPr>
              <a:t>La expresión génica separa los tumores ER negativos en el plano PCA</a:t>
            </a:r>
            <a:endParaRPr lang="en-US" sz="1150" dirty="0"/>
          </a:p>
        </p:txBody>
      </p:sp>
      <p:pic>
        <p:nvPicPr>
          <p:cNvPr id="13" name="Image 0" descr="Varianza explicada y proyección PCA de los genes coloreada por subtipo">    </p:cNvPr>
          <p:cNvPicPr>
            <a:picLocks noChangeAspect="1"/>
          </p:cNvPicPr>
          <p:nvPr/>
        </p:nvPicPr>
        <p:blipFill>
          <a:blip r:embed="rId1"/>
          <a:stretch>
            <a:fillRect/>
          </a:stretch>
        </p:blipFill>
        <p:spPr>
          <a:xfrm>
            <a:off x="4983480" y="1600200"/>
            <a:ext cx="3749040" cy="1009405"/>
          </a:xfrm>
          <a:prstGeom prst="rect">
            <a:avLst/>
          </a:prstGeom>
        </p:spPr>
      </p:pic>
      <p:sp>
        <p:nvSpPr>
          <p:cNvPr id="14" name="Text 11"/>
          <p:cNvSpPr txBox="1"/>
          <p:nvPr/>
        </p:nvSpPr>
        <p:spPr>
          <a:xfrm>
            <a:off x="4983480" y="2743200"/>
            <a:ext cx="3749040" cy="457200"/>
          </a:xfrm>
          <a:prstGeom prst="rect">
            <a:avLst/>
          </a:prstGeom>
          <a:noFill/>
          <a:ln/>
        </p:spPr>
        <p:txBody>
          <a:bodyPr wrap="square" lIns="0" tIns="0" rIns="0" bIns="0" rtlCol="0" anchor="t"/>
          <a:lstStyle/>
          <a:p>
            <a:pPr indent="0" marL="0">
              <a:buNone/>
            </a:pPr>
            <a:r>
              <a:rPr lang="en-US" sz="1050" i="1" dirty="0">
                <a:solidFill>
                  <a:schemeClr val="accent5"/>
                </a:solidFill>
              </a:rPr>
              <a:t>La proyección PCA de los 489 genes ya separa los subtipos antes de modelar.</a:t>
            </a:r>
            <a:endParaRPr lang="en-US" sz="1050" dirty="0"/>
          </a:p>
        </p:txBody>
      </p:sp>
      <p:sp>
        <p:nvSpPr>
          <p:cNvPr id="15" name="Text 12"/>
          <p:cNvSpPr txBox="1"/>
          <p:nvPr/>
        </p:nvSpPr>
        <p:spPr>
          <a:xfrm>
            <a:off x="457200" y="4407408"/>
            <a:ext cx="8229600" cy="320040"/>
          </a:xfrm>
          <a:prstGeom prst="rect">
            <a:avLst/>
          </a:prstGeom>
          <a:noFill/>
          <a:ln/>
        </p:spPr>
        <p:txBody>
          <a:bodyPr wrap="square" lIns="0" tIns="0" rIns="0" bIns="0" rtlCol="0" anchor="b"/>
          <a:lstStyle/>
          <a:p>
            <a:pPr indent="0" marL="0">
              <a:buNone/>
            </a:pPr>
            <a:r>
              <a:rPr lang="en-US" sz="950" i="1" dirty="0">
                <a:solidFill>
                  <a:schemeClr val="accent5"/>
                </a:solidFill>
              </a:rPr>
              <a:t>Fuente: Curtis et al. (2012) y Pereira et al. (2016), versión de Kaggle (Alharbi, 2020). Tras excluir un sarcoma quedan 1.903 pacientes.</a:t>
            </a:r>
            <a:endParaRPr lang="en-US" sz="95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Un diseño sin fuga de información: la prueba se abrió una sola vez</a:t>
            </a:r>
            <a:endParaRPr lang="en-US" sz="2200" dirty="0"/>
          </a:p>
        </p:txBody>
      </p:sp>
      <p:sp>
        <p:nvSpPr>
          <p:cNvPr id="3" name="Paso 1"/>
          <p:cNvSpPr/>
          <p:nvPr/>
        </p:nvSpPr>
        <p:spPr>
          <a:xfrm>
            <a:off x="457200" y="1508760"/>
            <a:ext cx="1554480" cy="2148840"/>
          </a:xfrm>
          <a:prstGeom prst="rect">
            <a:avLst/>
          </a:prstGeom>
          <a:solidFill>
            <a:schemeClr val="bg2"/>
          </a:solidFill>
          <a:ln w="12700">
            <a:solidFill>
              <a:schemeClr val="bg2"/>
            </a:solidFill>
            <a:prstDash val="solid"/>
          </a:ln>
        </p:spPr>
      </p:sp>
      <p:sp>
        <p:nvSpPr>
          <p:cNvPr id="4" name="Text 2"/>
          <p:cNvSpPr txBox="1"/>
          <p:nvPr/>
        </p:nvSpPr>
        <p:spPr>
          <a:xfrm>
            <a:off x="594360" y="1627632"/>
            <a:ext cx="1280160" cy="411480"/>
          </a:xfrm>
          <a:prstGeom prst="rect">
            <a:avLst/>
          </a:prstGeom>
          <a:noFill/>
          <a:ln/>
        </p:spPr>
        <p:txBody>
          <a:bodyPr wrap="square" lIns="0" tIns="0" rIns="0" bIns="0" rtlCol="0" anchor="t"/>
          <a:lstStyle/>
          <a:p>
            <a:pPr indent="0" marL="0">
              <a:buNone/>
            </a:pPr>
            <a:r>
              <a:rPr lang="en-US" sz="2400" b="1" dirty="0">
                <a:solidFill>
                  <a:schemeClr val="accent1"/>
                </a:solidFill>
              </a:rPr>
              <a:t>1</a:t>
            </a:r>
            <a:endParaRPr lang="en-US" sz="2400" dirty="0"/>
          </a:p>
        </p:txBody>
      </p:sp>
      <p:sp>
        <p:nvSpPr>
          <p:cNvPr id="5" name="Text 3"/>
          <p:cNvSpPr txBox="1"/>
          <p:nvPr/>
        </p:nvSpPr>
        <p:spPr>
          <a:xfrm>
            <a:off x="594360" y="2084832"/>
            <a:ext cx="1298448" cy="502920"/>
          </a:xfrm>
          <a:prstGeom prst="rect">
            <a:avLst/>
          </a:prstGeom>
          <a:noFill/>
          <a:ln/>
        </p:spPr>
        <p:txBody>
          <a:bodyPr wrap="square" lIns="0" tIns="0" rIns="0" bIns="0" rtlCol="0" anchor="t"/>
          <a:lstStyle/>
          <a:p>
            <a:pPr indent="0" marL="0">
              <a:buNone/>
            </a:pPr>
            <a:r>
              <a:rPr lang="en-US" sz="1200" b="1" dirty="0">
                <a:solidFill>
                  <a:schemeClr val="tx2"/>
                </a:solidFill>
              </a:rPr>
              <a:t>Limpieza determinística</a:t>
            </a:r>
            <a:endParaRPr lang="en-US" sz="1200" dirty="0"/>
          </a:p>
        </p:txBody>
      </p:sp>
      <p:sp>
        <p:nvSpPr>
          <p:cNvPr id="6" name="Text 4"/>
          <p:cNvSpPr txBox="1"/>
          <p:nvPr/>
        </p:nvSpPr>
        <p:spPr>
          <a:xfrm>
            <a:off x="594360" y="2606040"/>
            <a:ext cx="1298448" cy="1005840"/>
          </a:xfrm>
          <a:prstGeom prst="rect">
            <a:avLst/>
          </a:prstGeom>
          <a:noFill/>
          <a:ln/>
        </p:spPr>
        <p:txBody>
          <a:bodyPr wrap="square" lIns="0" tIns="0" rIns="0" bIns="0" rtlCol="0" anchor="t"/>
          <a:lstStyle/>
          <a:p>
            <a:pPr indent="0" marL="0">
              <a:buNone/>
            </a:pPr>
            <a:r>
              <a:rPr lang="en-US" sz="1000" dirty="0">
                <a:solidFill>
                  <a:schemeClr val="tx1"/>
                </a:solidFill>
              </a:rPr>
              <a:t>Reglas fila por fila; 18 grados deducidos del NPI y 57 NPI no válidos</a:t>
            </a:r>
            <a:endParaRPr lang="en-US" sz="1000" dirty="0"/>
          </a:p>
        </p:txBody>
      </p:sp>
      <p:sp>
        <p:nvSpPr>
          <p:cNvPr id="7" name="Paso 2"/>
          <p:cNvSpPr/>
          <p:nvPr/>
        </p:nvSpPr>
        <p:spPr>
          <a:xfrm>
            <a:off x="2139696" y="1508760"/>
            <a:ext cx="1554480" cy="2148840"/>
          </a:xfrm>
          <a:prstGeom prst="rect">
            <a:avLst/>
          </a:prstGeom>
          <a:solidFill>
            <a:schemeClr val="bg2"/>
          </a:solidFill>
          <a:ln w="12700">
            <a:solidFill>
              <a:schemeClr val="bg2"/>
            </a:solidFill>
            <a:prstDash val="solid"/>
          </a:ln>
        </p:spPr>
      </p:sp>
      <p:sp>
        <p:nvSpPr>
          <p:cNvPr id="8" name="Text 6"/>
          <p:cNvSpPr txBox="1"/>
          <p:nvPr/>
        </p:nvSpPr>
        <p:spPr>
          <a:xfrm>
            <a:off x="2276856" y="1627632"/>
            <a:ext cx="1280160" cy="411480"/>
          </a:xfrm>
          <a:prstGeom prst="rect">
            <a:avLst/>
          </a:prstGeom>
          <a:noFill/>
          <a:ln/>
        </p:spPr>
        <p:txBody>
          <a:bodyPr wrap="square" lIns="0" tIns="0" rIns="0" bIns="0" rtlCol="0" anchor="t"/>
          <a:lstStyle/>
          <a:p>
            <a:pPr indent="0" marL="0">
              <a:buNone/>
            </a:pPr>
            <a:r>
              <a:rPr lang="en-US" sz="2400" b="1" dirty="0">
                <a:solidFill>
                  <a:schemeClr val="accent1"/>
                </a:solidFill>
              </a:rPr>
              <a:t>2</a:t>
            </a:r>
            <a:endParaRPr lang="en-US" sz="2400" dirty="0"/>
          </a:p>
        </p:txBody>
      </p:sp>
      <p:sp>
        <p:nvSpPr>
          <p:cNvPr id="9" name="Text 7"/>
          <p:cNvSpPr txBox="1"/>
          <p:nvPr/>
        </p:nvSpPr>
        <p:spPr>
          <a:xfrm>
            <a:off x="2276856" y="2084832"/>
            <a:ext cx="1298448" cy="502920"/>
          </a:xfrm>
          <a:prstGeom prst="rect">
            <a:avLst/>
          </a:prstGeom>
          <a:noFill/>
          <a:ln/>
        </p:spPr>
        <p:txBody>
          <a:bodyPr wrap="square" lIns="0" tIns="0" rIns="0" bIns="0" rtlCol="0" anchor="t"/>
          <a:lstStyle/>
          <a:p>
            <a:pPr indent="0" marL="0">
              <a:buNone/>
            </a:pPr>
            <a:r>
              <a:rPr lang="en-US" sz="1200" b="1" dirty="0">
                <a:solidFill>
                  <a:schemeClr val="tx2"/>
                </a:solidFill>
              </a:rPr>
              <a:t>Partición 70/15/15</a:t>
            </a:r>
            <a:endParaRPr lang="en-US" sz="1200" dirty="0"/>
          </a:p>
        </p:txBody>
      </p:sp>
      <p:sp>
        <p:nvSpPr>
          <p:cNvPr id="10" name="Text 8"/>
          <p:cNvSpPr txBox="1"/>
          <p:nvPr/>
        </p:nvSpPr>
        <p:spPr>
          <a:xfrm>
            <a:off x="2276856" y="2606040"/>
            <a:ext cx="1298448" cy="1005840"/>
          </a:xfrm>
          <a:prstGeom prst="rect">
            <a:avLst/>
          </a:prstGeom>
          <a:noFill/>
          <a:ln/>
        </p:spPr>
        <p:txBody>
          <a:bodyPr wrap="square" lIns="0" tIns="0" rIns="0" bIns="0" rtlCol="0" anchor="t"/>
          <a:lstStyle/>
          <a:p>
            <a:pPr indent="0" marL="0">
              <a:buNone/>
            </a:pPr>
            <a:r>
              <a:rPr lang="en-US" sz="1000" dirty="0">
                <a:solidFill>
                  <a:schemeClr val="tx1"/>
                </a:solidFill>
              </a:rPr>
              <a:t>Estratificada por subtipo y con semilla fija: 1.332 / 285 / 286</a:t>
            </a:r>
            <a:endParaRPr lang="en-US" sz="1000" dirty="0"/>
          </a:p>
        </p:txBody>
      </p:sp>
      <p:sp>
        <p:nvSpPr>
          <p:cNvPr id="11" name="Paso 3"/>
          <p:cNvSpPr/>
          <p:nvPr/>
        </p:nvSpPr>
        <p:spPr>
          <a:xfrm>
            <a:off x="3822192" y="1508760"/>
            <a:ext cx="1554480" cy="2148840"/>
          </a:xfrm>
          <a:prstGeom prst="rect">
            <a:avLst/>
          </a:prstGeom>
          <a:solidFill>
            <a:schemeClr val="bg2"/>
          </a:solidFill>
          <a:ln w="12700">
            <a:solidFill>
              <a:schemeClr val="bg2"/>
            </a:solidFill>
            <a:prstDash val="solid"/>
          </a:ln>
        </p:spPr>
      </p:sp>
      <p:sp>
        <p:nvSpPr>
          <p:cNvPr id="12" name="Text 10"/>
          <p:cNvSpPr txBox="1"/>
          <p:nvPr/>
        </p:nvSpPr>
        <p:spPr>
          <a:xfrm>
            <a:off x="3959352" y="1627632"/>
            <a:ext cx="1280160" cy="411480"/>
          </a:xfrm>
          <a:prstGeom prst="rect">
            <a:avLst/>
          </a:prstGeom>
          <a:noFill/>
          <a:ln/>
        </p:spPr>
        <p:txBody>
          <a:bodyPr wrap="square" lIns="0" tIns="0" rIns="0" bIns="0" rtlCol="0" anchor="t"/>
          <a:lstStyle/>
          <a:p>
            <a:pPr indent="0" marL="0">
              <a:buNone/>
            </a:pPr>
            <a:r>
              <a:rPr lang="en-US" sz="2400" b="1" dirty="0">
                <a:solidFill>
                  <a:schemeClr val="accent1"/>
                </a:solidFill>
              </a:rPr>
              <a:t>3</a:t>
            </a:r>
            <a:endParaRPr lang="en-US" sz="2400" dirty="0"/>
          </a:p>
        </p:txBody>
      </p:sp>
      <p:sp>
        <p:nvSpPr>
          <p:cNvPr id="13" name="Text 11"/>
          <p:cNvSpPr txBox="1"/>
          <p:nvPr/>
        </p:nvSpPr>
        <p:spPr>
          <a:xfrm>
            <a:off x="3959352" y="2084832"/>
            <a:ext cx="1298448" cy="502920"/>
          </a:xfrm>
          <a:prstGeom prst="rect">
            <a:avLst/>
          </a:prstGeom>
          <a:noFill/>
          <a:ln/>
        </p:spPr>
        <p:txBody>
          <a:bodyPr wrap="square" lIns="0" tIns="0" rIns="0" bIns="0" rtlCol="0" anchor="t"/>
          <a:lstStyle/>
          <a:p>
            <a:pPr indent="0" marL="0">
              <a:buNone/>
            </a:pPr>
            <a:r>
              <a:rPr lang="en-US" sz="1200" b="1" dirty="0">
                <a:solidFill>
                  <a:schemeClr val="tx2"/>
                </a:solidFill>
              </a:rPr>
              <a:t>Pipeline en entrenamiento</a:t>
            </a:r>
            <a:endParaRPr lang="en-US" sz="1200" dirty="0"/>
          </a:p>
        </p:txBody>
      </p:sp>
      <p:sp>
        <p:nvSpPr>
          <p:cNvPr id="14" name="Text 12"/>
          <p:cNvSpPr txBox="1"/>
          <p:nvPr/>
        </p:nvSpPr>
        <p:spPr>
          <a:xfrm>
            <a:off x="3959352" y="2606040"/>
            <a:ext cx="1298448" cy="1005840"/>
          </a:xfrm>
          <a:prstGeom prst="rect">
            <a:avLst/>
          </a:prstGeom>
          <a:noFill/>
          <a:ln/>
        </p:spPr>
        <p:txBody>
          <a:bodyPr wrap="square" lIns="0" tIns="0" rIns="0" bIns="0" rtlCol="0" anchor="t"/>
          <a:lstStyle/>
          <a:p>
            <a:pPr indent="0" marL="0">
              <a:buNone/>
            </a:pPr>
            <a:r>
              <a:rPr lang="en-US" sz="1000" dirty="0">
                <a:solidFill>
                  <a:schemeClr val="tx1"/>
                </a:solidFill>
              </a:rPr>
              <a:t>Winsorización, escalado, IterativeImputer y One-Hot ajustados solo en train</a:t>
            </a:r>
            <a:endParaRPr lang="en-US" sz="1000" dirty="0"/>
          </a:p>
        </p:txBody>
      </p:sp>
      <p:sp>
        <p:nvSpPr>
          <p:cNvPr id="15" name="Paso 4"/>
          <p:cNvSpPr/>
          <p:nvPr/>
        </p:nvSpPr>
        <p:spPr>
          <a:xfrm>
            <a:off x="5504688" y="1508760"/>
            <a:ext cx="1554480" cy="2148840"/>
          </a:xfrm>
          <a:prstGeom prst="rect">
            <a:avLst/>
          </a:prstGeom>
          <a:solidFill>
            <a:schemeClr val="bg2"/>
          </a:solidFill>
          <a:ln w="12700">
            <a:solidFill>
              <a:schemeClr val="bg2"/>
            </a:solidFill>
            <a:prstDash val="solid"/>
          </a:ln>
        </p:spPr>
      </p:sp>
      <p:sp>
        <p:nvSpPr>
          <p:cNvPr id="16" name="Text 14"/>
          <p:cNvSpPr txBox="1"/>
          <p:nvPr/>
        </p:nvSpPr>
        <p:spPr>
          <a:xfrm>
            <a:off x="5641848" y="1627632"/>
            <a:ext cx="1280160" cy="411480"/>
          </a:xfrm>
          <a:prstGeom prst="rect">
            <a:avLst/>
          </a:prstGeom>
          <a:noFill/>
          <a:ln/>
        </p:spPr>
        <p:txBody>
          <a:bodyPr wrap="square" lIns="0" tIns="0" rIns="0" bIns="0" rtlCol="0" anchor="t"/>
          <a:lstStyle/>
          <a:p>
            <a:pPr indent="0" marL="0">
              <a:buNone/>
            </a:pPr>
            <a:r>
              <a:rPr lang="en-US" sz="2400" b="1" dirty="0">
                <a:solidFill>
                  <a:schemeClr val="accent1"/>
                </a:solidFill>
              </a:rPr>
              <a:t>4</a:t>
            </a:r>
            <a:endParaRPr lang="en-US" sz="2400" dirty="0"/>
          </a:p>
        </p:txBody>
      </p:sp>
      <p:sp>
        <p:nvSpPr>
          <p:cNvPr id="17" name="Text 15"/>
          <p:cNvSpPr txBox="1"/>
          <p:nvPr/>
        </p:nvSpPr>
        <p:spPr>
          <a:xfrm>
            <a:off x="5641848" y="2084832"/>
            <a:ext cx="1298448" cy="502920"/>
          </a:xfrm>
          <a:prstGeom prst="rect">
            <a:avLst/>
          </a:prstGeom>
          <a:noFill/>
          <a:ln/>
        </p:spPr>
        <p:txBody>
          <a:bodyPr wrap="square" lIns="0" tIns="0" rIns="0" bIns="0" rtlCol="0" anchor="t"/>
          <a:lstStyle/>
          <a:p>
            <a:pPr indent="0" marL="0">
              <a:buNone/>
            </a:pPr>
            <a:r>
              <a:rPr lang="en-US" sz="1200" b="1" dirty="0">
                <a:solidFill>
                  <a:schemeClr val="tx2"/>
                </a:solidFill>
              </a:rPr>
              <a:t>CV de 5 pliegues</a:t>
            </a:r>
            <a:endParaRPr lang="en-US" sz="1200" dirty="0"/>
          </a:p>
        </p:txBody>
      </p:sp>
      <p:sp>
        <p:nvSpPr>
          <p:cNvPr id="18" name="Text 16"/>
          <p:cNvSpPr txBox="1"/>
          <p:nvPr/>
        </p:nvSpPr>
        <p:spPr>
          <a:xfrm>
            <a:off x="5641848" y="2606040"/>
            <a:ext cx="1298448" cy="1005840"/>
          </a:xfrm>
          <a:prstGeom prst="rect">
            <a:avLst/>
          </a:prstGeom>
          <a:noFill/>
          <a:ln/>
        </p:spPr>
        <p:txBody>
          <a:bodyPr wrap="square" lIns="0" tIns="0" rIns="0" bIns="0" rtlCol="0" anchor="t"/>
          <a:lstStyle/>
          <a:p>
            <a:pPr indent="0" marL="0">
              <a:buNone/>
            </a:pPr>
            <a:r>
              <a:rPr lang="en-US" sz="1000" dirty="0">
                <a:solidFill>
                  <a:schemeClr val="tx1"/>
                </a:solidFill>
              </a:rPr>
              <a:t>Hiperparámetros y reglas de selección fijadas de antemano</a:t>
            </a:r>
            <a:endParaRPr lang="en-US" sz="1000" dirty="0"/>
          </a:p>
        </p:txBody>
      </p:sp>
      <p:sp>
        <p:nvSpPr>
          <p:cNvPr id="19" name="Paso 5"/>
          <p:cNvSpPr/>
          <p:nvPr/>
        </p:nvSpPr>
        <p:spPr>
          <a:xfrm>
            <a:off x="7187184" y="1508760"/>
            <a:ext cx="1554480" cy="2148840"/>
          </a:xfrm>
          <a:prstGeom prst="rect">
            <a:avLst/>
          </a:prstGeom>
          <a:solidFill>
            <a:schemeClr val="accent1"/>
          </a:solidFill>
          <a:ln w="12700">
            <a:solidFill>
              <a:schemeClr val="accent1"/>
            </a:solidFill>
            <a:prstDash val="solid"/>
          </a:ln>
        </p:spPr>
      </p:sp>
      <p:sp>
        <p:nvSpPr>
          <p:cNvPr id="20" name="Text 18"/>
          <p:cNvSpPr txBox="1"/>
          <p:nvPr/>
        </p:nvSpPr>
        <p:spPr>
          <a:xfrm>
            <a:off x="7324344" y="1627632"/>
            <a:ext cx="1280160" cy="411480"/>
          </a:xfrm>
          <a:prstGeom prst="rect">
            <a:avLst/>
          </a:prstGeom>
          <a:noFill/>
          <a:ln/>
        </p:spPr>
        <p:txBody>
          <a:bodyPr wrap="square" lIns="0" tIns="0" rIns="0" bIns="0" rtlCol="0" anchor="t"/>
          <a:lstStyle/>
          <a:p>
            <a:pPr indent="0" marL="0">
              <a:buNone/>
            </a:pPr>
            <a:r>
              <a:rPr lang="en-US" sz="2400" b="1" dirty="0">
                <a:solidFill>
                  <a:schemeClr val="accent2"/>
                </a:solidFill>
              </a:rPr>
              <a:t>5</a:t>
            </a:r>
            <a:endParaRPr lang="en-US" sz="2400" dirty="0"/>
          </a:p>
        </p:txBody>
      </p:sp>
      <p:sp>
        <p:nvSpPr>
          <p:cNvPr id="21" name="Text 19"/>
          <p:cNvSpPr txBox="1"/>
          <p:nvPr/>
        </p:nvSpPr>
        <p:spPr>
          <a:xfrm>
            <a:off x="7324344" y="2084832"/>
            <a:ext cx="1298448" cy="502920"/>
          </a:xfrm>
          <a:prstGeom prst="rect">
            <a:avLst/>
          </a:prstGeom>
          <a:noFill/>
          <a:ln/>
        </p:spPr>
        <p:txBody>
          <a:bodyPr wrap="square" lIns="0" tIns="0" rIns="0" bIns="0" rtlCol="0" anchor="t"/>
          <a:lstStyle/>
          <a:p>
            <a:pPr indent="0" marL="0">
              <a:buNone/>
            </a:pPr>
            <a:r>
              <a:rPr lang="en-US" sz="1200" b="1" dirty="0">
                <a:solidFill>
                  <a:schemeClr val="bg1"/>
                </a:solidFill>
              </a:rPr>
              <a:t>Prueba única</a:t>
            </a:r>
            <a:endParaRPr lang="en-US" sz="1200" dirty="0"/>
          </a:p>
        </p:txBody>
      </p:sp>
      <p:sp>
        <p:nvSpPr>
          <p:cNvPr id="22" name="Text 20"/>
          <p:cNvSpPr txBox="1"/>
          <p:nvPr/>
        </p:nvSpPr>
        <p:spPr>
          <a:xfrm>
            <a:off x="7324344" y="2606040"/>
            <a:ext cx="1298448" cy="1005840"/>
          </a:xfrm>
          <a:prstGeom prst="rect">
            <a:avLst/>
          </a:prstGeom>
          <a:noFill/>
          <a:ln/>
        </p:spPr>
        <p:txBody>
          <a:bodyPr wrap="square" lIns="0" tIns="0" rIns="0" bIns="0" rtlCol="0" anchor="t"/>
          <a:lstStyle/>
          <a:p>
            <a:pPr indent="0" marL="0">
              <a:buNone/>
            </a:pPr>
            <a:r>
              <a:rPr lang="en-US" sz="1000" dirty="0">
                <a:solidFill>
                  <a:schemeClr val="bg1"/>
                </a:solidFill>
              </a:rPr>
              <a:t>Bootstrap, McNemar y Wilcoxon sobre 286 pacientes</a:t>
            </a:r>
            <a:endParaRPr lang="en-US" sz="1000" dirty="0"/>
          </a:p>
        </p:txBody>
      </p:sp>
      <p:sp>
        <p:nvSpPr>
          <p:cNvPr id="23" name="Text 21"/>
          <p:cNvSpPr txBox="1"/>
          <p:nvPr/>
        </p:nvSpPr>
        <p:spPr>
          <a:xfrm>
            <a:off x="457200" y="3794760"/>
            <a:ext cx="8229600" cy="548640"/>
          </a:xfrm>
          <a:prstGeom prst="rect">
            <a:avLst/>
          </a:prstGeom>
          <a:noFill/>
          <a:ln/>
        </p:spPr>
        <p:txBody>
          <a:bodyPr wrap="square" lIns="0" tIns="0" rIns="0" bIns="0" rtlCol="0" anchor="t"/>
          <a:lstStyle/>
          <a:p>
            <a:pPr indent="0" marL="0">
              <a:buNone/>
            </a:pPr>
            <a:r>
              <a:rPr lang="en-US" sz="1100" dirty="0">
                <a:solidFill>
                  <a:schemeClr val="tx1"/>
                </a:solidFill>
              </a:rPr>
              <a:t>Variables derivadas con respaldo bibliográfico: puntaje de proliferación (7 genes), grupo por receptores, triple negativo y mutaciones en genes conductores. Para la regresión se excluyeron tamaño, ganglios y grado, porque con ellos se calcula el NPI.</a:t>
            </a:r>
            <a:endParaRPr lang="en-US" sz="11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Ridge explica el 26 % del NPI; los modelos complejos no lo superan</a:t>
            </a:r>
            <a:endParaRPr lang="en-US" sz="2200" dirty="0"/>
          </a:p>
        </p:txBody>
      </p:sp>
      <p:graphicFrame>
        <p:nvGraphicFramePr>
          <p:cNvPr id="3" name="Gráfico RMSE" descr=""/>
          <p:cNvGraphicFramePr/>
          <p:nvPr/>
        </p:nvGraphicFramePr>
        <p:xfrm>
          <a:off x="457200" y="1371600"/>
          <a:ext cx="5120640" cy="2971800"/>
        </p:xfrm>
        <a:graphic xmlns:a="http://schemas.openxmlformats.org/drawingml/2006/main">
          <a:graphicData uri="http://schemas.openxmlformats.org/drawingml/2006/chart">
            <c:chart xmlns:c="http://schemas.openxmlformats.org/drawingml/2006/chart" r:id="rId1"/>
          </a:graphicData>
        </a:graphic>
      </p:graphicFrame>
      <p:sp>
        <p:nvSpPr>
          <p:cNvPr id="4" name="Tarjeta 0,260"/>
          <p:cNvSpPr/>
          <p:nvPr/>
        </p:nvSpPr>
        <p:spPr>
          <a:xfrm>
            <a:off x="5852160" y="1417320"/>
            <a:ext cx="2834640" cy="1600200"/>
          </a:xfrm>
          <a:prstGeom prst="rect">
            <a:avLst/>
          </a:prstGeom>
          <a:solidFill>
            <a:schemeClr val="accent1"/>
          </a:solidFill>
          <a:ln w="12700">
            <a:solidFill>
              <a:schemeClr val="accent1"/>
            </a:solidFill>
            <a:prstDash val="solid"/>
          </a:ln>
        </p:spPr>
      </p:sp>
      <p:sp>
        <p:nvSpPr>
          <p:cNvPr id="5" name="Text 2"/>
          <p:cNvSpPr txBox="1"/>
          <p:nvPr/>
        </p:nvSpPr>
        <p:spPr>
          <a:xfrm>
            <a:off x="6016752" y="1600200"/>
            <a:ext cx="2505456" cy="685800"/>
          </a:xfrm>
          <a:prstGeom prst="rect">
            <a:avLst/>
          </a:prstGeom>
          <a:noFill/>
          <a:ln/>
        </p:spPr>
        <p:txBody>
          <a:bodyPr wrap="square" lIns="0" tIns="0" rIns="0" bIns="0" rtlCol="0" anchor="ctr"/>
          <a:lstStyle/>
          <a:p>
            <a:pPr indent="0" marL="0">
              <a:buNone/>
            </a:pPr>
            <a:r>
              <a:rPr lang="en-US" sz="3600" b="1" dirty="0">
                <a:solidFill>
                  <a:schemeClr val="bg1"/>
                </a:solidFill>
              </a:rPr>
              <a:t>0,260</a:t>
            </a:r>
            <a:endParaRPr lang="en-US" sz="3600" dirty="0"/>
          </a:p>
        </p:txBody>
      </p:sp>
      <p:sp>
        <p:nvSpPr>
          <p:cNvPr id="6" name="Text 3"/>
          <p:cNvSpPr txBox="1"/>
          <p:nvPr/>
        </p:nvSpPr>
        <p:spPr>
          <a:xfrm>
            <a:off x="6016752" y="2331720"/>
            <a:ext cx="2505456" cy="548640"/>
          </a:xfrm>
          <a:prstGeom prst="rect">
            <a:avLst/>
          </a:prstGeom>
          <a:noFill/>
          <a:ln/>
        </p:spPr>
        <p:txBody>
          <a:bodyPr wrap="square" lIns="0" tIns="0" rIns="0" bIns="0" rtlCol="0" anchor="t"/>
          <a:lstStyle/>
          <a:p>
            <a:pPr indent="0" marL="0">
              <a:buNone/>
            </a:pPr>
            <a:r>
              <a:rPr lang="en-US" sz="1150" dirty="0">
                <a:solidFill>
                  <a:schemeClr val="bg1"/>
                </a:solidFill>
              </a:rPr>
              <a:t>R² de Ridge en prueba (IC 95 %: 0,175 a 0,332)</a:t>
            </a:r>
            <a:endParaRPr lang="en-US" sz="1150" dirty="0"/>
          </a:p>
        </p:txBody>
      </p:sp>
      <p:sp>
        <p:nvSpPr>
          <p:cNvPr id="7" name="Text 4"/>
          <p:cNvSpPr txBox="1"/>
          <p:nvPr/>
        </p:nvSpPr>
        <p:spPr>
          <a:xfrm>
            <a:off x="5852160" y="3154680"/>
            <a:ext cx="2834640" cy="123444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chemeClr val="tx1"/>
                </a:solidFill>
              </a:rPr>
              <a:t>Mejora significativa frente al modelo base: ΔRMSE = 0,047</a:t>
            </a:r>
            <a:endParaRPr lang="en-US" sz="1050" dirty="0"/>
          </a:p>
          <a:p>
            <a:pPr marL="152400" indent="-152400">
              <a:spcAft>
                <a:spcPts val="600"/>
              </a:spcAft>
              <a:buSzPct val="100000"/>
              <a:buChar char="•"/>
            </a:pPr>
            <a:r>
              <a:rPr lang="en-US" sz="1050" dirty="0">
                <a:solidFill>
                  <a:schemeClr val="tx1"/>
                </a:solidFill>
              </a:rPr>
              <a:t>Los cuatro modelos avanzados son equivalentes (Wilcoxon, p &gt; 0,2)</a:t>
            </a:r>
            <a:endParaRPr lang="en-US" sz="1050" dirty="0"/>
          </a:p>
          <a:p>
            <a:pPr marL="152400" indent="-152400">
              <a:spcAft>
                <a:spcPts val="600"/>
              </a:spcAft>
              <a:buSzPct val="100000"/>
              <a:buChar char="•"/>
            </a:pPr>
            <a:r>
              <a:rPr lang="en-US" sz="1050" dirty="0">
                <a:solidFill>
                  <a:schemeClr val="tx1"/>
                </a:solidFill>
              </a:rPr>
              <a:t>Regla de un error estándar: se elige el más simple</a:t>
            </a:r>
            <a:endParaRPr lang="en-US" sz="105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El clasificador final alcanza F1 de 0,79 en pacientes nunca vistas</a:t>
            </a:r>
            <a:endParaRPr lang="en-US" sz="2200" dirty="0"/>
          </a:p>
        </p:txBody>
      </p:sp>
      <p:graphicFrame>
        <p:nvGraphicFramePr>
          <p:cNvPr id="3" name="Gráfico F1" descr=""/>
          <p:cNvGraphicFramePr/>
          <p:nvPr/>
        </p:nvGraphicFramePr>
        <p:xfrm>
          <a:off x="457200" y="1371600"/>
          <a:ext cx="5120640" cy="2971800"/>
        </p:xfrm>
        <a:graphic xmlns:a="http://schemas.openxmlformats.org/drawingml/2006/main">
          <a:graphicData uri="http://schemas.openxmlformats.org/drawingml/2006/chart">
            <c:chart xmlns:c="http://schemas.openxmlformats.org/drawingml/2006/chart" r:id="rId1"/>
          </a:graphicData>
        </a:graphic>
      </p:graphicFrame>
      <p:sp>
        <p:nvSpPr>
          <p:cNvPr id="4" name="Tarjeta 0,38 → 0,79"/>
          <p:cNvSpPr/>
          <p:nvPr/>
        </p:nvSpPr>
        <p:spPr>
          <a:xfrm>
            <a:off x="5852160" y="1417320"/>
            <a:ext cx="2834640" cy="1600200"/>
          </a:xfrm>
          <a:prstGeom prst="rect">
            <a:avLst/>
          </a:prstGeom>
          <a:solidFill>
            <a:schemeClr val="accent1"/>
          </a:solidFill>
          <a:ln w="12700">
            <a:solidFill>
              <a:schemeClr val="accent1"/>
            </a:solidFill>
            <a:prstDash val="solid"/>
          </a:ln>
        </p:spPr>
      </p:sp>
      <p:sp>
        <p:nvSpPr>
          <p:cNvPr id="5" name="Text 2"/>
          <p:cNvSpPr txBox="1"/>
          <p:nvPr/>
        </p:nvSpPr>
        <p:spPr>
          <a:xfrm>
            <a:off x="6016752" y="1600200"/>
            <a:ext cx="2505456" cy="685800"/>
          </a:xfrm>
          <a:prstGeom prst="rect">
            <a:avLst/>
          </a:prstGeom>
          <a:noFill/>
          <a:ln/>
        </p:spPr>
        <p:txBody>
          <a:bodyPr wrap="square" lIns="0" tIns="0" rIns="0" bIns="0" rtlCol="0" anchor="ctr"/>
          <a:lstStyle/>
          <a:p>
            <a:pPr indent="0" marL="0">
              <a:buNone/>
            </a:pPr>
            <a:r>
              <a:rPr lang="en-US" sz="3600" b="1" dirty="0">
                <a:solidFill>
                  <a:schemeClr val="bg1"/>
                </a:solidFill>
              </a:rPr>
              <a:t>0,38 → 0,79</a:t>
            </a:r>
            <a:endParaRPr lang="en-US" sz="3600" dirty="0"/>
          </a:p>
        </p:txBody>
      </p:sp>
      <p:sp>
        <p:nvSpPr>
          <p:cNvPr id="6" name="Text 3"/>
          <p:cNvSpPr txBox="1"/>
          <p:nvPr/>
        </p:nvSpPr>
        <p:spPr>
          <a:xfrm>
            <a:off x="6016752" y="2331720"/>
            <a:ext cx="2505456" cy="548640"/>
          </a:xfrm>
          <a:prstGeom prst="rect">
            <a:avLst/>
          </a:prstGeom>
          <a:noFill/>
          <a:ln/>
        </p:spPr>
        <p:txBody>
          <a:bodyPr wrap="square" lIns="0" tIns="0" rIns="0" bIns="0" rtlCol="0" anchor="t"/>
          <a:lstStyle/>
          <a:p>
            <a:pPr indent="0" marL="0">
              <a:buNone/>
            </a:pPr>
            <a:r>
              <a:rPr lang="en-US" sz="1150" dirty="0">
                <a:solidFill>
                  <a:schemeClr val="bg1"/>
                </a:solidFill>
              </a:rPr>
              <a:t>F1 con solo ER, PR y HER2 frente a F1 con expresión génica</a:t>
            </a:r>
            <a:endParaRPr lang="en-US" sz="1150" dirty="0"/>
          </a:p>
        </p:txBody>
      </p:sp>
      <p:sp>
        <p:nvSpPr>
          <p:cNvPr id="7" name="Text 4"/>
          <p:cNvSpPr txBox="1"/>
          <p:nvPr/>
        </p:nvSpPr>
        <p:spPr>
          <a:xfrm>
            <a:off x="5852160" y="3154680"/>
            <a:ext cx="2834640" cy="123444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chemeClr val="tx1"/>
                </a:solidFill>
              </a:rPr>
              <a:t>AUC-ROC = 0,967; exactitud = 0,804</a:t>
            </a:r>
            <a:endParaRPr lang="en-US" sz="1050" dirty="0"/>
          </a:p>
          <a:p>
            <a:pPr marL="152400" indent="-152400">
              <a:spcAft>
                <a:spcPts val="600"/>
              </a:spcAft>
              <a:buSzPct val="100000"/>
              <a:buChar char="•"/>
            </a:pPr>
            <a:r>
              <a:rPr lang="en-US" sz="1050" dirty="0">
                <a:solidFill>
                  <a:schemeClr val="tx1"/>
                </a:solidFill>
              </a:rPr>
              <a:t>Normal-like es la clase más difícil (F1 = 0,59)</a:t>
            </a:r>
            <a:endParaRPr lang="en-US" sz="1050" dirty="0"/>
          </a:p>
          <a:p>
            <a:pPr marL="152400" indent="-152400">
              <a:spcAft>
                <a:spcPts val="600"/>
              </a:spcAft>
              <a:buSzPct val="100000"/>
              <a:buChar char="•"/>
            </a:pPr>
            <a:r>
              <a:rPr lang="en-US" sz="1050" dirty="0">
                <a:solidFill>
                  <a:schemeClr val="tx1"/>
                </a:solidFill>
              </a:rPr>
              <a:t>McNemar no separa los modelos: la prueba tiene poca potencia</a:t>
            </a:r>
            <a:endParaRPr lang="en-US" sz="105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La selección de 200 genes redujo el sobreajuste a la mitad</a:t>
            </a:r>
            <a:endParaRPr lang="en-US" sz="2200" dirty="0"/>
          </a:p>
        </p:txBody>
      </p:sp>
      <p:pic>
        <p:nvPicPr>
          <p:cNvPr id="3" name="Image 0" descr="F1 de validación cruzada frente a la brecha de sobreajuste de cada configuración">    </p:cNvPr>
          <p:cNvPicPr>
            <a:picLocks noChangeAspect="1"/>
          </p:cNvPicPr>
          <p:nvPr/>
        </p:nvPicPr>
        <p:blipFill>
          <a:blip r:embed="rId1"/>
          <a:stretch>
            <a:fillRect/>
          </a:stretch>
        </p:blipFill>
        <p:spPr>
          <a:xfrm>
            <a:off x="457200" y="1371600"/>
            <a:ext cx="4937760" cy="2603607"/>
          </a:xfrm>
          <a:prstGeom prst="rect">
            <a:avLst/>
          </a:prstGeom>
        </p:spPr>
      </p:pic>
      <p:sp>
        <p:nvSpPr>
          <p:cNvPr id="4" name="Antes"/>
          <p:cNvSpPr/>
          <p:nvPr/>
        </p:nvSpPr>
        <p:spPr>
          <a:xfrm>
            <a:off x="5669280" y="1417320"/>
            <a:ext cx="3017520" cy="1325880"/>
          </a:xfrm>
          <a:prstGeom prst="rect">
            <a:avLst/>
          </a:prstGeom>
          <a:solidFill>
            <a:schemeClr val="bg2"/>
          </a:solidFill>
          <a:ln w="12700">
            <a:solidFill>
              <a:schemeClr val="bg2"/>
            </a:solidFill>
            <a:prstDash val="solid"/>
          </a:ln>
        </p:spPr>
      </p:sp>
      <p:sp>
        <p:nvSpPr>
          <p:cNvPr id="5" name="Text 2"/>
          <p:cNvSpPr txBox="1"/>
          <p:nvPr/>
        </p:nvSpPr>
        <p:spPr>
          <a:xfrm>
            <a:off x="5852160" y="1508760"/>
            <a:ext cx="2743200" cy="365760"/>
          </a:xfrm>
          <a:prstGeom prst="rect">
            <a:avLst/>
          </a:prstGeom>
          <a:noFill/>
          <a:ln/>
        </p:spPr>
        <p:txBody>
          <a:bodyPr wrap="square" lIns="0" tIns="0" rIns="0" bIns="0" rtlCol="0" anchor="t"/>
          <a:lstStyle/>
          <a:p>
            <a:pPr indent="0" marL="0">
              <a:buNone/>
            </a:pPr>
            <a:r>
              <a:rPr lang="en-US" sz="1800" b="1" dirty="0">
                <a:solidFill>
                  <a:schemeClr val="accent4"/>
                </a:solidFill>
              </a:rPr>
              <a:t>Antes: 0,22 a 0,27</a:t>
            </a:r>
            <a:endParaRPr lang="en-US" sz="1800" dirty="0"/>
          </a:p>
        </p:txBody>
      </p:sp>
      <p:sp>
        <p:nvSpPr>
          <p:cNvPr id="6" name="Text 3"/>
          <p:cNvSpPr txBox="1"/>
          <p:nvPr/>
        </p:nvSpPr>
        <p:spPr>
          <a:xfrm>
            <a:off x="5852160" y="1920240"/>
            <a:ext cx="2697480" cy="731520"/>
          </a:xfrm>
          <a:prstGeom prst="rect">
            <a:avLst/>
          </a:prstGeom>
          <a:noFill/>
          <a:ln/>
        </p:spPr>
        <p:txBody>
          <a:bodyPr wrap="square" lIns="0" tIns="0" rIns="0" bIns="0" rtlCol="0" anchor="t"/>
          <a:lstStyle/>
          <a:p>
            <a:pPr indent="0" marL="0">
              <a:buNone/>
            </a:pPr>
            <a:r>
              <a:rPr lang="en-US" sz="1050" dirty="0">
                <a:solidFill>
                  <a:schemeClr val="tx1"/>
                </a:solidFill>
              </a:rPr>
              <a:t>Brecha entre F1 de entrenamiento y de CV de los modelos de la fase de ajuste</a:t>
            </a:r>
            <a:endParaRPr lang="en-US" sz="1050" dirty="0"/>
          </a:p>
        </p:txBody>
      </p:sp>
      <p:sp>
        <p:nvSpPr>
          <p:cNvPr id="7" name="Después"/>
          <p:cNvSpPr/>
          <p:nvPr/>
        </p:nvSpPr>
        <p:spPr>
          <a:xfrm>
            <a:off x="5669280" y="2880360"/>
            <a:ext cx="3017520" cy="1325880"/>
          </a:xfrm>
          <a:prstGeom prst="rect">
            <a:avLst/>
          </a:prstGeom>
          <a:solidFill>
            <a:schemeClr val="accent1"/>
          </a:solidFill>
          <a:ln w="12700">
            <a:solidFill>
              <a:schemeClr val="accent1"/>
            </a:solidFill>
            <a:prstDash val="solid"/>
          </a:ln>
        </p:spPr>
      </p:sp>
      <p:sp>
        <p:nvSpPr>
          <p:cNvPr id="8" name="Text 5"/>
          <p:cNvSpPr txBox="1"/>
          <p:nvPr/>
        </p:nvSpPr>
        <p:spPr>
          <a:xfrm>
            <a:off x="5852160" y="2971800"/>
            <a:ext cx="2743200" cy="365760"/>
          </a:xfrm>
          <a:prstGeom prst="rect">
            <a:avLst/>
          </a:prstGeom>
          <a:noFill/>
          <a:ln/>
        </p:spPr>
        <p:txBody>
          <a:bodyPr wrap="square" lIns="0" tIns="0" rIns="0" bIns="0" rtlCol="0" anchor="t"/>
          <a:lstStyle/>
          <a:p>
            <a:pPr indent="0" marL="0">
              <a:buNone/>
            </a:pPr>
            <a:r>
              <a:rPr lang="en-US" sz="1800" b="1" dirty="0">
                <a:solidFill>
                  <a:schemeClr val="accent2"/>
                </a:solidFill>
              </a:rPr>
              <a:t>Después: 0,123</a:t>
            </a:r>
            <a:endParaRPr lang="en-US" sz="1800" dirty="0"/>
          </a:p>
        </p:txBody>
      </p:sp>
      <p:sp>
        <p:nvSpPr>
          <p:cNvPr id="9" name="Text 6"/>
          <p:cNvSpPr txBox="1"/>
          <p:nvPr/>
        </p:nvSpPr>
        <p:spPr>
          <a:xfrm>
            <a:off x="5852160" y="3383280"/>
            <a:ext cx="2697480" cy="731520"/>
          </a:xfrm>
          <a:prstGeom prst="rect">
            <a:avLst/>
          </a:prstGeom>
          <a:noFill/>
          <a:ln/>
        </p:spPr>
        <p:txBody>
          <a:bodyPr wrap="square" lIns="0" tIns="0" rIns="0" bIns="0" rtlCol="0" anchor="t"/>
          <a:lstStyle/>
          <a:p>
            <a:pPr indent="0" marL="0">
              <a:buNone/>
            </a:pPr>
            <a:r>
              <a:rPr lang="en-US" sz="1050" dirty="0">
                <a:solidFill>
                  <a:schemeClr val="bg1"/>
                </a:solidFill>
              </a:rPr>
              <a:t>SelectKBest (k = 200) + logística L2 con C = 0,01; F1 de CV = 0,739</a:t>
            </a:r>
            <a:endParaRPr lang="en-US" sz="1050" dirty="0"/>
          </a:p>
        </p:txBody>
      </p:sp>
      <p:sp>
        <p:nvSpPr>
          <p:cNvPr id="10" name="Text 7"/>
          <p:cNvSpPr txBox="1"/>
          <p:nvPr/>
        </p:nvSpPr>
        <p:spPr>
          <a:xfrm>
            <a:off x="457200" y="4407408"/>
            <a:ext cx="8229600" cy="320040"/>
          </a:xfrm>
          <a:prstGeom prst="rect">
            <a:avLst/>
          </a:prstGeom>
          <a:noFill/>
          <a:ln/>
        </p:spPr>
        <p:txBody>
          <a:bodyPr wrap="square" lIns="0" tIns="0" rIns="0" bIns="0" rtlCol="0" anchor="b"/>
          <a:lstStyle/>
          <a:p>
            <a:pPr indent="0" marL="0">
              <a:buNone/>
            </a:pPr>
            <a:r>
              <a:rPr lang="en-US" sz="950" i="1" dirty="0">
                <a:solidFill>
                  <a:schemeClr val="accent5"/>
                </a:solidFill>
              </a:rPr>
              <a:t>Regla fijada antes de abrir la prueba: mayor F1 de CV entre las configuraciones con brecha &lt; 0,15. La de mayor F1 (0,750) se descartó por su brecha de 0,163.</a:t>
            </a:r>
            <a:endParaRPr lang="en-US" sz="95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Los modelos redescubren la biología conocida de cada subtipo</a:t>
            </a:r>
            <a:endParaRPr lang="en-US" sz="2200" dirty="0"/>
          </a:p>
        </p:txBody>
      </p:sp>
      <p:pic>
        <p:nvPicPr>
          <p:cNvPr id="3" name="Image 0" descr="Valores SHAP de XGBoost por clase y para los subtipos Basal y Luminal A">    </p:cNvPr>
          <p:cNvPicPr>
            <a:picLocks noChangeAspect="1"/>
          </p:cNvPicPr>
          <p:nvPr/>
        </p:nvPicPr>
        <p:blipFill>
          <a:blip r:embed="rId1"/>
          <a:stretch>
            <a:fillRect/>
          </a:stretch>
        </p:blipFill>
        <p:spPr>
          <a:xfrm>
            <a:off x="457200" y="1371600"/>
            <a:ext cx="8229600" cy="2704539"/>
          </a:xfrm>
          <a:prstGeom prst="rect">
            <a:avLst/>
          </a:prstGeom>
        </p:spPr>
      </p:pic>
      <p:sp>
        <p:nvSpPr>
          <p:cNvPr id="4" name="Gen ERBB2"/>
          <p:cNvSpPr/>
          <p:nvPr/>
        </p:nvSpPr>
        <p:spPr>
          <a:xfrm>
            <a:off x="457200" y="4114800"/>
            <a:ext cx="1554480" cy="502920"/>
          </a:xfrm>
          <a:prstGeom prst="rect">
            <a:avLst/>
          </a:prstGeom>
          <a:solidFill>
            <a:schemeClr val="bg2"/>
          </a:solidFill>
          <a:ln w="12700">
            <a:solidFill>
              <a:schemeClr val="bg2"/>
            </a:solidFill>
            <a:prstDash val="solid"/>
          </a:ln>
        </p:spPr>
      </p:sp>
      <p:sp>
        <p:nvSpPr>
          <p:cNvPr id="5" name="Text 2"/>
          <p:cNvSpPr txBox="1"/>
          <p:nvPr/>
        </p:nvSpPr>
        <p:spPr>
          <a:xfrm>
            <a:off x="530352" y="4133088"/>
            <a:ext cx="1417320" cy="457200"/>
          </a:xfrm>
          <a:prstGeom prst="rect">
            <a:avLst/>
          </a:prstGeom>
          <a:noFill/>
          <a:ln/>
        </p:spPr>
        <p:txBody>
          <a:bodyPr wrap="square" lIns="0" tIns="0" rIns="0" bIns="0" rtlCol="0" anchor="ctr"/>
          <a:lstStyle/>
          <a:p>
            <a:pPr algn="ctr" indent="0" marL="0">
              <a:buNone/>
            </a:pPr>
            <a:r>
              <a:rPr lang="en-US" sz="1000" b="1" dirty="0">
                <a:solidFill>
                  <a:schemeClr val="accent1"/>
                </a:solidFill>
              </a:rPr>
              <a:t>ERBB2</a:t>
            </a:r>
            <a:endParaRPr lang="en-US" sz="1000" dirty="0"/>
          </a:p>
          <a:p>
            <a:pPr algn="ctr" indent="0" marL="0">
              <a:buNone/>
            </a:pPr>
            <a:r>
              <a:rPr lang="en-US" sz="1000" dirty="0">
                <a:solidFill>
                  <a:schemeClr val="tx1"/>
                </a:solidFill>
              </a:rPr>
              <a:t>HER2</a:t>
            </a:r>
            <a:endParaRPr lang="en-US" sz="1000" dirty="0"/>
          </a:p>
        </p:txBody>
      </p:sp>
      <p:sp>
        <p:nvSpPr>
          <p:cNvPr id="6" name="Gen GATA3, ERBB3"/>
          <p:cNvSpPr/>
          <p:nvPr/>
        </p:nvSpPr>
        <p:spPr>
          <a:xfrm>
            <a:off x="2121408" y="4114800"/>
            <a:ext cx="1554480" cy="502920"/>
          </a:xfrm>
          <a:prstGeom prst="rect">
            <a:avLst/>
          </a:prstGeom>
          <a:solidFill>
            <a:schemeClr val="bg2"/>
          </a:solidFill>
          <a:ln w="12700">
            <a:solidFill>
              <a:schemeClr val="bg2"/>
            </a:solidFill>
            <a:prstDash val="solid"/>
          </a:ln>
        </p:spPr>
      </p:sp>
      <p:sp>
        <p:nvSpPr>
          <p:cNvPr id="7" name="Text 4"/>
          <p:cNvSpPr txBox="1"/>
          <p:nvPr/>
        </p:nvSpPr>
        <p:spPr>
          <a:xfrm>
            <a:off x="2194560" y="4133088"/>
            <a:ext cx="1417320" cy="457200"/>
          </a:xfrm>
          <a:prstGeom prst="rect">
            <a:avLst/>
          </a:prstGeom>
          <a:noFill/>
          <a:ln/>
        </p:spPr>
        <p:txBody>
          <a:bodyPr wrap="square" lIns="0" tIns="0" rIns="0" bIns="0" rtlCol="0" anchor="ctr"/>
          <a:lstStyle/>
          <a:p>
            <a:pPr algn="ctr" indent="0" marL="0">
              <a:buNone/>
            </a:pPr>
            <a:r>
              <a:rPr lang="en-US" sz="1000" b="1" dirty="0">
                <a:solidFill>
                  <a:schemeClr val="accent1"/>
                </a:solidFill>
              </a:rPr>
              <a:t>GATA3, ERBB3</a:t>
            </a:r>
            <a:endParaRPr lang="en-US" sz="1000" dirty="0"/>
          </a:p>
          <a:p>
            <a:pPr algn="ctr" indent="0" marL="0">
              <a:buNone/>
            </a:pPr>
            <a:r>
              <a:rPr lang="en-US" sz="1000" dirty="0">
                <a:solidFill>
                  <a:schemeClr val="tx1"/>
                </a:solidFill>
              </a:rPr>
              <a:t>Luminales</a:t>
            </a:r>
            <a:endParaRPr lang="en-US" sz="1000" dirty="0"/>
          </a:p>
        </p:txBody>
      </p:sp>
      <p:sp>
        <p:nvSpPr>
          <p:cNvPr id="8" name="Gen Proliferación"/>
          <p:cNvSpPr/>
          <p:nvPr/>
        </p:nvSpPr>
        <p:spPr>
          <a:xfrm>
            <a:off x="3785616" y="4114800"/>
            <a:ext cx="1554480" cy="502920"/>
          </a:xfrm>
          <a:prstGeom prst="rect">
            <a:avLst/>
          </a:prstGeom>
          <a:solidFill>
            <a:schemeClr val="bg2"/>
          </a:solidFill>
          <a:ln w="12700">
            <a:solidFill>
              <a:schemeClr val="bg2"/>
            </a:solidFill>
            <a:prstDash val="solid"/>
          </a:ln>
        </p:spPr>
      </p:sp>
      <p:sp>
        <p:nvSpPr>
          <p:cNvPr id="9" name="Text 6"/>
          <p:cNvSpPr txBox="1"/>
          <p:nvPr/>
        </p:nvSpPr>
        <p:spPr>
          <a:xfrm>
            <a:off x="3858768" y="4133088"/>
            <a:ext cx="1417320" cy="457200"/>
          </a:xfrm>
          <a:prstGeom prst="rect">
            <a:avLst/>
          </a:prstGeom>
          <a:noFill/>
          <a:ln/>
        </p:spPr>
        <p:txBody>
          <a:bodyPr wrap="square" lIns="0" tIns="0" rIns="0" bIns="0" rtlCol="0" anchor="ctr"/>
          <a:lstStyle/>
          <a:p>
            <a:pPr algn="ctr" indent="0" marL="0">
              <a:buNone/>
            </a:pPr>
            <a:r>
              <a:rPr lang="en-US" sz="1000" b="1" dirty="0">
                <a:solidFill>
                  <a:schemeClr val="accent1"/>
                </a:solidFill>
              </a:rPr>
              <a:t>Proliferación</a:t>
            </a:r>
            <a:endParaRPr lang="en-US" sz="1000" dirty="0"/>
          </a:p>
          <a:p>
            <a:pPr algn="ctr" indent="0" marL="0">
              <a:buNone/>
            </a:pPr>
            <a:r>
              <a:rPr lang="en-US" sz="1000" dirty="0">
                <a:solidFill>
                  <a:schemeClr val="tx1"/>
                </a:solidFill>
              </a:rPr>
              <a:t>Luminal A frente a B</a:t>
            </a:r>
            <a:endParaRPr lang="en-US" sz="1000" dirty="0"/>
          </a:p>
        </p:txBody>
      </p:sp>
      <p:sp>
        <p:nvSpPr>
          <p:cNvPr id="10" name="Gen EGFR, NOTCH1"/>
          <p:cNvSpPr/>
          <p:nvPr/>
        </p:nvSpPr>
        <p:spPr>
          <a:xfrm>
            <a:off x="5449824" y="4114800"/>
            <a:ext cx="1554480" cy="502920"/>
          </a:xfrm>
          <a:prstGeom prst="rect">
            <a:avLst/>
          </a:prstGeom>
          <a:solidFill>
            <a:schemeClr val="bg2"/>
          </a:solidFill>
          <a:ln w="12700">
            <a:solidFill>
              <a:schemeClr val="bg2"/>
            </a:solidFill>
            <a:prstDash val="solid"/>
          </a:ln>
        </p:spPr>
      </p:sp>
      <p:sp>
        <p:nvSpPr>
          <p:cNvPr id="11" name="Text 8"/>
          <p:cNvSpPr txBox="1"/>
          <p:nvPr/>
        </p:nvSpPr>
        <p:spPr>
          <a:xfrm>
            <a:off x="5522976" y="4133088"/>
            <a:ext cx="1417320" cy="457200"/>
          </a:xfrm>
          <a:prstGeom prst="rect">
            <a:avLst/>
          </a:prstGeom>
          <a:noFill/>
          <a:ln/>
        </p:spPr>
        <p:txBody>
          <a:bodyPr wrap="square" lIns="0" tIns="0" rIns="0" bIns="0" rtlCol="0" anchor="ctr"/>
          <a:lstStyle/>
          <a:p>
            <a:pPr algn="ctr" indent="0" marL="0">
              <a:buNone/>
            </a:pPr>
            <a:r>
              <a:rPr lang="en-US" sz="1000" b="1" dirty="0">
                <a:solidFill>
                  <a:schemeClr val="accent1"/>
                </a:solidFill>
              </a:rPr>
              <a:t>EGFR, NOTCH1</a:t>
            </a:r>
            <a:endParaRPr lang="en-US" sz="1000" dirty="0"/>
          </a:p>
          <a:p>
            <a:pPr algn="ctr" indent="0" marL="0">
              <a:buNone/>
            </a:pPr>
            <a:r>
              <a:rPr lang="en-US" sz="1000" dirty="0">
                <a:solidFill>
                  <a:schemeClr val="tx1"/>
                </a:solidFill>
              </a:rPr>
              <a:t>Basal</a:t>
            </a:r>
            <a:endParaRPr lang="en-US" sz="1000" dirty="0"/>
          </a:p>
        </p:txBody>
      </p:sp>
      <p:sp>
        <p:nvSpPr>
          <p:cNvPr id="12" name="Gen CSF1R"/>
          <p:cNvSpPr/>
          <p:nvPr/>
        </p:nvSpPr>
        <p:spPr>
          <a:xfrm>
            <a:off x="7114032" y="4114800"/>
            <a:ext cx="1554480" cy="502920"/>
          </a:xfrm>
          <a:prstGeom prst="rect">
            <a:avLst/>
          </a:prstGeom>
          <a:solidFill>
            <a:schemeClr val="bg2"/>
          </a:solidFill>
          <a:ln w="12700">
            <a:solidFill>
              <a:schemeClr val="bg2"/>
            </a:solidFill>
            <a:prstDash val="solid"/>
          </a:ln>
        </p:spPr>
      </p:sp>
      <p:sp>
        <p:nvSpPr>
          <p:cNvPr id="13" name="Text 10"/>
          <p:cNvSpPr txBox="1"/>
          <p:nvPr/>
        </p:nvSpPr>
        <p:spPr>
          <a:xfrm>
            <a:off x="7187184" y="4133088"/>
            <a:ext cx="1417320" cy="457200"/>
          </a:xfrm>
          <a:prstGeom prst="rect">
            <a:avLst/>
          </a:prstGeom>
          <a:noFill/>
          <a:ln/>
        </p:spPr>
        <p:txBody>
          <a:bodyPr wrap="square" lIns="0" tIns="0" rIns="0" bIns="0" rtlCol="0" anchor="ctr"/>
          <a:lstStyle/>
          <a:p>
            <a:pPr algn="ctr" indent="0" marL="0">
              <a:buNone/>
            </a:pPr>
            <a:r>
              <a:rPr lang="en-US" sz="1000" b="1" dirty="0">
                <a:solidFill>
                  <a:schemeClr val="accent1"/>
                </a:solidFill>
              </a:rPr>
              <a:t>CSF1R</a:t>
            </a:r>
            <a:endParaRPr lang="en-US" sz="1000" dirty="0"/>
          </a:p>
          <a:p>
            <a:pPr algn="ctr" indent="0" marL="0">
              <a:buNone/>
            </a:pPr>
            <a:r>
              <a:rPr lang="en-US" sz="1000" dirty="0">
                <a:solidFill>
                  <a:schemeClr val="tx1"/>
                </a:solidFill>
              </a:rPr>
              <a:t>Claudin-low</a:t>
            </a:r>
            <a:endParaRPr lang="en-US" sz="10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K-Means separa un grupo agresivo con 41 % de mortalidad por cáncer</a:t>
            </a:r>
            <a:endParaRPr lang="en-US" sz="2200" dirty="0"/>
          </a:p>
        </p:txBody>
      </p:sp>
      <p:graphicFrame>
        <p:nvGraphicFramePr>
          <p:cNvPr id="3" name="Gráfico mortalidad" descr=""/>
          <p:cNvGraphicFramePr/>
          <p:nvPr/>
        </p:nvGraphicFramePr>
        <p:xfrm>
          <a:off x="457200" y="1371600"/>
          <a:ext cx="4206240" cy="29718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937760" y="1463040"/>
            <a:ext cx="3749040" cy="2834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chemeClr val="tx1"/>
                </a:solidFill>
              </a:rPr>
              <a:t>K = 4 por el codo y un máximo local de la silueta (0,158)</a:t>
            </a:r>
            <a:endParaRPr lang="en-US" sz="1150" dirty="0"/>
          </a:p>
          <a:p>
            <a:pPr marL="152400" indent="-152400">
              <a:spcAft>
                <a:spcPts val="600"/>
              </a:spcAft>
              <a:buSzPct val="100000"/>
              <a:buChar char="•"/>
            </a:pPr>
            <a:r>
              <a:rPr lang="en-US" sz="1150" dirty="0">
                <a:solidFill>
                  <a:schemeClr val="tx1"/>
                </a:solidFill>
              </a:rPr>
              <a:t>Muy estable: ARI medio de 0,93 en submuestras</a:t>
            </a:r>
            <a:endParaRPr lang="en-US" sz="1150" dirty="0"/>
          </a:p>
          <a:p>
            <a:pPr marL="152400" indent="-152400">
              <a:spcAft>
                <a:spcPts val="600"/>
              </a:spcAft>
              <a:buSzPct val="100000"/>
              <a:buChar char="•"/>
            </a:pPr>
            <a:r>
              <a:rPr lang="en-US" sz="1150" dirty="0">
                <a:solidFill>
                  <a:schemeClr val="tx1"/>
                </a:solidFill>
              </a:rPr>
              <a:t>Ward como segundo algoritmo; DBSCAN no es adecuado</a:t>
            </a:r>
            <a:endParaRPr lang="en-US" sz="1150" dirty="0"/>
          </a:p>
          <a:p>
            <a:pPr marL="152400" indent="-152400">
              <a:spcAft>
                <a:spcPts val="600"/>
              </a:spcAft>
              <a:buSzPct val="100000"/>
              <a:buChar char="•"/>
            </a:pPr>
            <a:r>
              <a:rPr lang="en-US" sz="1150" dirty="0">
                <a:solidFill>
                  <a:schemeClr val="tx1"/>
                </a:solidFill>
              </a:rPr>
              <a:t>Clúster 0: 86 % ER negativo, alta proliferación, TP53 mutado</a:t>
            </a:r>
            <a:endParaRPr lang="en-US" sz="1150" dirty="0"/>
          </a:p>
          <a:p>
            <a:pPr marL="152400" indent="-152400">
              <a:spcAft>
                <a:spcPts val="600"/>
              </a:spcAft>
              <a:buSzPct val="100000"/>
              <a:buChar char="•"/>
            </a:pPr>
            <a:r>
              <a:rPr lang="en-US" sz="1150" dirty="0">
                <a:solidFill>
                  <a:schemeClr val="tx1"/>
                </a:solidFill>
              </a:rPr>
              <a:t>La estructura se mantiene en prueba (silueta = 0,150)</a:t>
            </a:r>
            <a:endParaRPr lang="en-US" sz="115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Un clúster refleja diferencias entre centros, no biología</a:t>
            </a:r>
            <a:endParaRPr lang="en-US" sz="2200" dirty="0"/>
          </a:p>
        </p:txBody>
      </p:sp>
      <p:sp>
        <p:nvSpPr>
          <p:cNvPr id="3" name="Tarjeta 82,6 %"/>
          <p:cNvSpPr/>
          <p:nvPr/>
        </p:nvSpPr>
        <p:spPr>
          <a:xfrm>
            <a:off x="457200" y="1463040"/>
            <a:ext cx="2377440" cy="1828800"/>
          </a:xfrm>
          <a:prstGeom prst="rect">
            <a:avLst/>
          </a:prstGeom>
          <a:solidFill>
            <a:schemeClr val="accent1"/>
          </a:solidFill>
          <a:ln w="12700">
            <a:solidFill>
              <a:schemeClr val="accent1"/>
            </a:solidFill>
            <a:prstDash val="solid"/>
          </a:ln>
        </p:spPr>
      </p:sp>
      <p:sp>
        <p:nvSpPr>
          <p:cNvPr id="4" name="Text 2"/>
          <p:cNvSpPr txBox="1"/>
          <p:nvPr/>
        </p:nvSpPr>
        <p:spPr>
          <a:xfrm>
            <a:off x="621792" y="1645920"/>
            <a:ext cx="2048256" cy="685800"/>
          </a:xfrm>
          <a:prstGeom prst="rect">
            <a:avLst/>
          </a:prstGeom>
          <a:noFill/>
          <a:ln/>
        </p:spPr>
        <p:txBody>
          <a:bodyPr wrap="square" lIns="0" tIns="0" rIns="0" bIns="0" rtlCol="0" anchor="ctr"/>
          <a:lstStyle/>
          <a:p>
            <a:pPr indent="0" marL="0">
              <a:buNone/>
            </a:pPr>
            <a:r>
              <a:rPr lang="en-US" sz="3600" b="1" dirty="0">
                <a:solidFill>
                  <a:schemeClr val="bg1"/>
                </a:solidFill>
              </a:rPr>
              <a:t>82,6 %</a:t>
            </a:r>
            <a:endParaRPr lang="en-US" sz="3600" dirty="0"/>
          </a:p>
        </p:txBody>
      </p:sp>
      <p:sp>
        <p:nvSpPr>
          <p:cNvPr id="5" name="Text 3"/>
          <p:cNvSpPr txBox="1"/>
          <p:nvPr/>
        </p:nvSpPr>
        <p:spPr>
          <a:xfrm>
            <a:off x="621792" y="2377440"/>
            <a:ext cx="2048256" cy="777240"/>
          </a:xfrm>
          <a:prstGeom prst="rect">
            <a:avLst/>
          </a:prstGeom>
          <a:noFill/>
          <a:ln/>
        </p:spPr>
        <p:txBody>
          <a:bodyPr wrap="square" lIns="0" tIns="0" rIns="0" bIns="0" rtlCol="0" anchor="t"/>
          <a:lstStyle/>
          <a:p>
            <a:pPr indent="0" marL="0">
              <a:buNone/>
            </a:pPr>
            <a:r>
              <a:rPr lang="en-US" sz="1150" dirty="0">
                <a:solidFill>
                  <a:schemeClr val="bg1"/>
                </a:solidFill>
              </a:rPr>
              <a:t>del clúster 2 viene de la cohorte C3</a:t>
            </a:r>
            <a:endParaRPr lang="en-US" sz="1150" dirty="0"/>
          </a:p>
        </p:txBody>
      </p:sp>
      <p:sp>
        <p:nvSpPr>
          <p:cNvPr id="6" name="Tarjeta 38,5 %"/>
          <p:cNvSpPr/>
          <p:nvPr/>
        </p:nvSpPr>
        <p:spPr>
          <a:xfrm>
            <a:off x="3017520" y="1463040"/>
            <a:ext cx="2377440" cy="1828800"/>
          </a:xfrm>
          <a:prstGeom prst="rect">
            <a:avLst/>
          </a:prstGeom>
          <a:solidFill>
            <a:schemeClr val="bg2"/>
          </a:solidFill>
          <a:ln w="12700">
            <a:solidFill>
              <a:schemeClr val="bg2"/>
            </a:solidFill>
            <a:prstDash val="solid"/>
          </a:ln>
        </p:spPr>
      </p:sp>
      <p:sp>
        <p:nvSpPr>
          <p:cNvPr id="7" name="Text 5"/>
          <p:cNvSpPr txBox="1"/>
          <p:nvPr/>
        </p:nvSpPr>
        <p:spPr>
          <a:xfrm>
            <a:off x="3182112" y="1645920"/>
            <a:ext cx="2048256" cy="685800"/>
          </a:xfrm>
          <a:prstGeom prst="rect">
            <a:avLst/>
          </a:prstGeom>
          <a:noFill/>
          <a:ln/>
        </p:spPr>
        <p:txBody>
          <a:bodyPr wrap="square" lIns="0" tIns="0" rIns="0" bIns="0" rtlCol="0" anchor="ctr"/>
          <a:lstStyle/>
          <a:p>
            <a:pPr indent="0" marL="0">
              <a:buNone/>
            </a:pPr>
            <a:r>
              <a:rPr lang="en-US" sz="3600" b="1" dirty="0">
                <a:solidFill>
                  <a:schemeClr val="accent1"/>
                </a:solidFill>
              </a:rPr>
              <a:t>38,5 %</a:t>
            </a:r>
            <a:endParaRPr lang="en-US" sz="3600" dirty="0"/>
          </a:p>
        </p:txBody>
      </p:sp>
      <p:sp>
        <p:nvSpPr>
          <p:cNvPr id="8" name="Text 6"/>
          <p:cNvSpPr txBox="1"/>
          <p:nvPr/>
        </p:nvSpPr>
        <p:spPr>
          <a:xfrm>
            <a:off x="3182112" y="2377440"/>
            <a:ext cx="2048256" cy="777240"/>
          </a:xfrm>
          <a:prstGeom prst="rect">
            <a:avLst/>
          </a:prstGeom>
          <a:noFill/>
          <a:ln/>
        </p:spPr>
        <p:txBody>
          <a:bodyPr wrap="square" lIns="0" tIns="0" rIns="0" bIns="0" rtlCol="0" anchor="t"/>
          <a:lstStyle/>
          <a:p>
            <a:pPr indent="0" marL="0">
              <a:buNone/>
            </a:pPr>
            <a:r>
              <a:rPr lang="en-US" sz="1150" dirty="0">
                <a:solidFill>
                  <a:schemeClr val="tx1"/>
                </a:solidFill>
              </a:rPr>
              <a:t>peso de la cohorte C3 en toda la muestra</a:t>
            </a:r>
            <a:endParaRPr lang="en-US" sz="1150" dirty="0"/>
          </a:p>
        </p:txBody>
      </p:sp>
      <p:sp>
        <p:nvSpPr>
          <p:cNvPr id="9" name="Text 7"/>
          <p:cNvSpPr txBox="1"/>
          <p:nvPr/>
        </p:nvSpPr>
        <p:spPr>
          <a:xfrm>
            <a:off x="457200" y="3474720"/>
            <a:ext cx="4937760" cy="822960"/>
          </a:xfrm>
          <a:prstGeom prst="rect">
            <a:avLst/>
          </a:prstGeom>
          <a:noFill/>
          <a:ln/>
        </p:spPr>
        <p:txBody>
          <a:bodyPr wrap="square" lIns="0" tIns="0" rIns="0" bIns="0" rtlCol="0" anchor="t"/>
          <a:lstStyle/>
          <a:p>
            <a:pPr indent="0" marL="0">
              <a:buNone/>
            </a:pPr>
            <a:r>
              <a:rPr lang="en-US" sz="1150" dirty="0">
                <a:solidFill>
                  <a:schemeClr val="tx1"/>
                </a:solidFill>
              </a:rPr>
              <a:t>Sus genes distintivos no forman una firma biológica coherente. Aun así, la segmentación global se explica por la biología: ARI con PAM50 = 0,208 frente a 0,025 con la cohorte.</a:t>
            </a:r>
            <a:endParaRPr lang="en-US" sz="1150" dirty="0"/>
          </a:p>
        </p:txBody>
      </p:sp>
      <p:pic>
        <p:nvPicPr>
          <p:cNvPr id="10" name="Image 0" descr="Mapa de calor de los genes que más distinguen a cada clúster">    </p:cNvPr>
          <p:cNvPicPr>
            <a:picLocks noChangeAspect="1"/>
          </p:cNvPicPr>
          <p:nvPr/>
        </p:nvPicPr>
        <p:blipFill>
          <a:blip r:embed="rId1"/>
          <a:stretch>
            <a:fillRect/>
          </a:stretch>
        </p:blipFill>
        <p:spPr>
          <a:xfrm>
            <a:off x="5760720" y="1371600"/>
            <a:ext cx="2926080" cy="2933564"/>
          </a:xfrm>
          <a:prstGeom prst="rect">
            <a:avLst/>
          </a:prstGeom>
        </p:spPr>
      </p:pic>
      <p:sp>
        <p:nvSpPr>
          <p:cNvPr id="11" name="Text 8"/>
          <p:cNvSpPr txBox="1"/>
          <p:nvPr/>
        </p:nvSpPr>
        <p:spPr>
          <a:xfrm>
            <a:off x="457200" y="4407408"/>
            <a:ext cx="8229600" cy="320040"/>
          </a:xfrm>
          <a:prstGeom prst="rect">
            <a:avLst/>
          </a:prstGeom>
          <a:noFill/>
          <a:ln/>
        </p:spPr>
        <p:txBody>
          <a:bodyPr wrap="square" lIns="0" tIns="0" rIns="0" bIns="0" rtlCol="0" anchor="b"/>
          <a:lstStyle/>
          <a:p>
            <a:pPr indent="0" marL="0">
              <a:buNone/>
            </a:pPr>
            <a:r>
              <a:rPr lang="en-US" sz="950" i="1" dirty="0">
                <a:solidFill>
                  <a:schemeClr val="accent5"/>
                </a:solidFill>
              </a:rPr>
              <a:t>Trabajo futuro: corregir el efecto de lote con ComBat (Johnson et al., 2007) antes de segmentar.</a:t>
            </a:r>
            <a:endParaRPr lang="en-US" sz="95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El dashboard lleva los modelos a una consulta en tiempo real</a:t>
            </a:r>
            <a:endParaRPr lang="en-US" sz="2200" dirty="0"/>
          </a:p>
        </p:txBody>
      </p:sp>
      <p:pic>
        <p:nvPicPr>
          <p:cNvPr id="3" name="Image 0" descr="Pestaña de predicción en vivo del dashboard">    </p:cNvPr>
          <p:cNvPicPr>
            <a:picLocks noChangeAspect="1"/>
          </p:cNvPicPr>
          <p:nvPr/>
        </p:nvPicPr>
        <p:blipFill>
          <a:blip r:embed="rId1"/>
          <a:stretch>
            <a:fillRect/>
          </a:stretch>
        </p:blipFill>
        <p:spPr>
          <a:xfrm>
            <a:off x="457200" y="1371600"/>
            <a:ext cx="4480560" cy="3111500"/>
          </a:xfrm>
          <a:prstGeom prst="rect">
            <a:avLst/>
          </a:prstGeom>
        </p:spPr>
      </p:pic>
      <p:sp>
        <p:nvSpPr>
          <p:cNvPr id="4" name="Marca Filtros"/>
          <p:cNvSpPr/>
          <p:nvPr/>
        </p:nvSpPr>
        <p:spPr>
          <a:xfrm>
            <a:off x="5166360" y="1371600"/>
            <a:ext cx="73152" cy="502920"/>
          </a:xfrm>
          <a:prstGeom prst="rect">
            <a:avLst/>
          </a:prstGeom>
          <a:solidFill>
            <a:schemeClr val="accent1"/>
          </a:solidFill>
          <a:ln w="12700">
            <a:solidFill>
              <a:schemeClr val="accent1"/>
            </a:solidFill>
            <a:prstDash val="solid"/>
          </a:ln>
        </p:spPr>
      </p:sp>
      <p:sp>
        <p:nvSpPr>
          <p:cNvPr id="5" name="Text 2"/>
          <p:cNvSpPr txBox="1"/>
          <p:nvPr/>
        </p:nvSpPr>
        <p:spPr>
          <a:xfrm>
            <a:off x="5349240" y="1371600"/>
            <a:ext cx="3337560" cy="228600"/>
          </a:xfrm>
          <a:prstGeom prst="rect">
            <a:avLst/>
          </a:prstGeom>
          <a:noFill/>
          <a:ln/>
        </p:spPr>
        <p:txBody>
          <a:bodyPr wrap="square" lIns="0" tIns="0" rIns="0" bIns="0" rtlCol="0" anchor="t"/>
          <a:lstStyle/>
          <a:p>
            <a:pPr indent="0" marL="0">
              <a:buNone/>
            </a:pPr>
            <a:r>
              <a:rPr lang="en-US" sz="1200" b="1" dirty="0">
                <a:solidFill>
                  <a:schemeClr val="tx2"/>
                </a:solidFill>
              </a:rPr>
              <a:t>Filtros</a:t>
            </a:r>
            <a:endParaRPr lang="en-US" sz="1200" dirty="0"/>
          </a:p>
        </p:txBody>
      </p:sp>
      <p:sp>
        <p:nvSpPr>
          <p:cNvPr id="6" name="Text 3"/>
          <p:cNvSpPr txBox="1"/>
          <p:nvPr/>
        </p:nvSpPr>
        <p:spPr>
          <a:xfrm>
            <a:off x="5349240" y="1609344"/>
            <a:ext cx="3337560" cy="274320"/>
          </a:xfrm>
          <a:prstGeom prst="rect">
            <a:avLst/>
          </a:prstGeom>
          <a:noFill/>
          <a:ln/>
        </p:spPr>
        <p:txBody>
          <a:bodyPr wrap="square" lIns="0" tIns="0" rIns="0" bIns="0" rtlCol="0" anchor="t"/>
          <a:lstStyle/>
          <a:p>
            <a:pPr indent="0" marL="0">
              <a:buNone/>
            </a:pPr>
            <a:r>
              <a:rPr lang="en-US" sz="1000" dirty="0">
                <a:solidFill>
                  <a:schemeClr val="accent5"/>
                </a:solidFill>
              </a:rPr>
              <a:t>Seguimiento, edad, NPI, subtipo, receptores y clúster</a:t>
            </a:r>
            <a:endParaRPr lang="en-US" sz="1000" dirty="0"/>
          </a:p>
        </p:txBody>
      </p:sp>
      <p:sp>
        <p:nvSpPr>
          <p:cNvPr id="7" name="Marca KPI y narrativa"/>
          <p:cNvSpPr/>
          <p:nvPr/>
        </p:nvSpPr>
        <p:spPr>
          <a:xfrm>
            <a:off x="5166360" y="1975104"/>
            <a:ext cx="73152" cy="502920"/>
          </a:xfrm>
          <a:prstGeom prst="rect">
            <a:avLst/>
          </a:prstGeom>
          <a:solidFill>
            <a:schemeClr val="accent1"/>
          </a:solidFill>
          <a:ln w="12700">
            <a:solidFill>
              <a:schemeClr val="accent1"/>
            </a:solidFill>
            <a:prstDash val="solid"/>
          </a:ln>
        </p:spPr>
      </p:sp>
      <p:sp>
        <p:nvSpPr>
          <p:cNvPr id="8" name="Text 5"/>
          <p:cNvSpPr txBox="1"/>
          <p:nvPr/>
        </p:nvSpPr>
        <p:spPr>
          <a:xfrm>
            <a:off x="5349240" y="1975104"/>
            <a:ext cx="3337560" cy="228600"/>
          </a:xfrm>
          <a:prstGeom prst="rect">
            <a:avLst/>
          </a:prstGeom>
          <a:noFill/>
          <a:ln/>
        </p:spPr>
        <p:txBody>
          <a:bodyPr wrap="square" lIns="0" tIns="0" rIns="0" bIns="0" rtlCol="0" anchor="t"/>
          <a:lstStyle/>
          <a:p>
            <a:pPr indent="0" marL="0">
              <a:buNone/>
            </a:pPr>
            <a:r>
              <a:rPr lang="en-US" sz="1200" b="1" dirty="0">
                <a:solidFill>
                  <a:schemeClr val="tx2"/>
                </a:solidFill>
              </a:rPr>
              <a:t>KPI y narrativa</a:t>
            </a:r>
            <a:endParaRPr lang="en-US" sz="1200" dirty="0"/>
          </a:p>
        </p:txBody>
      </p:sp>
      <p:sp>
        <p:nvSpPr>
          <p:cNvPr id="9" name="Text 6"/>
          <p:cNvSpPr txBox="1"/>
          <p:nvPr/>
        </p:nvSpPr>
        <p:spPr>
          <a:xfrm>
            <a:off x="5349240" y="2212848"/>
            <a:ext cx="3337560" cy="274320"/>
          </a:xfrm>
          <a:prstGeom prst="rect">
            <a:avLst/>
          </a:prstGeom>
          <a:noFill/>
          <a:ln/>
        </p:spPr>
        <p:txBody>
          <a:bodyPr wrap="square" lIns="0" tIns="0" rIns="0" bIns="0" rtlCol="0" anchor="t"/>
          <a:lstStyle/>
          <a:p>
            <a:pPr indent="0" marL="0">
              <a:buNone/>
            </a:pPr>
            <a:r>
              <a:rPr lang="en-US" sz="1000" dirty="0">
                <a:solidFill>
                  <a:schemeClr val="accent5"/>
                </a:solidFill>
              </a:rPr>
              <a:t>Tres ideas clave y curvas de Kaplan-Meier</a:t>
            </a:r>
            <a:endParaRPr lang="en-US" sz="1000" dirty="0"/>
          </a:p>
        </p:txBody>
      </p:sp>
      <p:sp>
        <p:nvSpPr>
          <p:cNvPr id="10" name="Marca Predicción en vivo"/>
          <p:cNvSpPr/>
          <p:nvPr/>
        </p:nvSpPr>
        <p:spPr>
          <a:xfrm>
            <a:off x="5166360" y="2578608"/>
            <a:ext cx="73152" cy="502920"/>
          </a:xfrm>
          <a:prstGeom prst="rect">
            <a:avLst/>
          </a:prstGeom>
          <a:solidFill>
            <a:schemeClr val="accent1"/>
          </a:solidFill>
          <a:ln w="12700">
            <a:solidFill>
              <a:schemeClr val="accent1"/>
            </a:solidFill>
            <a:prstDash val="solid"/>
          </a:ln>
        </p:spPr>
      </p:sp>
      <p:sp>
        <p:nvSpPr>
          <p:cNvPr id="11" name="Text 8"/>
          <p:cNvSpPr txBox="1"/>
          <p:nvPr/>
        </p:nvSpPr>
        <p:spPr>
          <a:xfrm>
            <a:off x="5349240" y="2578608"/>
            <a:ext cx="3337560" cy="228600"/>
          </a:xfrm>
          <a:prstGeom prst="rect">
            <a:avLst/>
          </a:prstGeom>
          <a:noFill/>
          <a:ln/>
        </p:spPr>
        <p:txBody>
          <a:bodyPr wrap="square" lIns="0" tIns="0" rIns="0" bIns="0" rtlCol="0" anchor="t"/>
          <a:lstStyle/>
          <a:p>
            <a:pPr indent="0" marL="0">
              <a:buNone/>
            </a:pPr>
            <a:r>
              <a:rPr lang="en-US" sz="1200" b="1" dirty="0">
                <a:solidFill>
                  <a:schemeClr val="tx2"/>
                </a:solidFill>
              </a:rPr>
              <a:t>Predicción en vivo</a:t>
            </a:r>
            <a:endParaRPr lang="en-US" sz="1200" dirty="0"/>
          </a:p>
        </p:txBody>
      </p:sp>
      <p:sp>
        <p:nvSpPr>
          <p:cNvPr id="12" name="Text 9"/>
          <p:cNvSpPr txBox="1"/>
          <p:nvPr/>
        </p:nvSpPr>
        <p:spPr>
          <a:xfrm>
            <a:off x="5349240" y="2816352"/>
            <a:ext cx="3337560" cy="274320"/>
          </a:xfrm>
          <a:prstGeom prst="rect">
            <a:avLst/>
          </a:prstGeom>
          <a:noFill/>
          <a:ln/>
        </p:spPr>
        <p:txBody>
          <a:bodyPr wrap="square" lIns="0" tIns="0" rIns="0" bIns="0" rtlCol="0" anchor="t"/>
          <a:lstStyle/>
          <a:p>
            <a:pPr indent="0" marL="0">
              <a:buNone/>
            </a:pPr>
            <a:r>
              <a:rPr lang="en-US" sz="1000" dirty="0">
                <a:solidFill>
                  <a:schemeClr val="accent5"/>
                </a:solidFill>
              </a:rPr>
              <a:t>NPI, probabilidades de subtipo y clúster de un perfil editable</a:t>
            </a:r>
            <a:endParaRPr lang="en-US" sz="1000" dirty="0"/>
          </a:p>
        </p:txBody>
      </p:sp>
      <p:sp>
        <p:nvSpPr>
          <p:cNvPr id="13" name="Marca Segmentación"/>
          <p:cNvSpPr/>
          <p:nvPr/>
        </p:nvSpPr>
        <p:spPr>
          <a:xfrm>
            <a:off x="5166360" y="3182112"/>
            <a:ext cx="73152" cy="502920"/>
          </a:xfrm>
          <a:prstGeom prst="rect">
            <a:avLst/>
          </a:prstGeom>
          <a:solidFill>
            <a:schemeClr val="accent1"/>
          </a:solidFill>
          <a:ln w="12700">
            <a:solidFill>
              <a:schemeClr val="accent1"/>
            </a:solidFill>
            <a:prstDash val="solid"/>
          </a:ln>
        </p:spPr>
      </p:sp>
      <p:sp>
        <p:nvSpPr>
          <p:cNvPr id="14" name="Text 11"/>
          <p:cNvSpPr txBox="1"/>
          <p:nvPr/>
        </p:nvSpPr>
        <p:spPr>
          <a:xfrm>
            <a:off x="5349240" y="3182112"/>
            <a:ext cx="3337560" cy="228600"/>
          </a:xfrm>
          <a:prstGeom prst="rect">
            <a:avLst/>
          </a:prstGeom>
          <a:noFill/>
          <a:ln/>
        </p:spPr>
        <p:txBody>
          <a:bodyPr wrap="square" lIns="0" tIns="0" rIns="0" bIns="0" rtlCol="0" anchor="t"/>
          <a:lstStyle/>
          <a:p>
            <a:pPr indent="0" marL="0">
              <a:buNone/>
            </a:pPr>
            <a:r>
              <a:rPr lang="en-US" sz="1200" b="1" dirty="0">
                <a:solidFill>
                  <a:schemeClr val="tx2"/>
                </a:solidFill>
              </a:rPr>
              <a:t>Segmentación</a:t>
            </a:r>
            <a:endParaRPr lang="en-US" sz="1200" dirty="0"/>
          </a:p>
        </p:txBody>
      </p:sp>
      <p:sp>
        <p:nvSpPr>
          <p:cNvPr id="15" name="Text 12"/>
          <p:cNvSpPr txBox="1"/>
          <p:nvPr/>
        </p:nvSpPr>
        <p:spPr>
          <a:xfrm>
            <a:off x="5349240" y="3419856"/>
            <a:ext cx="3337560" cy="274320"/>
          </a:xfrm>
          <a:prstGeom prst="rect">
            <a:avLst/>
          </a:prstGeom>
          <a:noFill/>
          <a:ln/>
        </p:spPr>
        <p:txBody>
          <a:bodyPr wrap="square" lIns="0" tIns="0" rIns="0" bIns="0" rtlCol="0" anchor="t"/>
          <a:lstStyle/>
          <a:p>
            <a:pPr indent="0" marL="0">
              <a:buNone/>
            </a:pPr>
            <a:r>
              <a:rPr lang="en-US" sz="1000" dirty="0">
                <a:solidFill>
                  <a:schemeClr val="accent5"/>
                </a:solidFill>
              </a:rPr>
              <a:t>Clústeres en el espacio PCA en 2D o 3D</a:t>
            </a:r>
            <a:endParaRPr lang="en-US" sz="1000" dirty="0"/>
          </a:p>
        </p:txBody>
      </p:sp>
      <p:sp>
        <p:nvSpPr>
          <p:cNvPr id="16" name="Marca Explicabilidad"/>
          <p:cNvSpPr/>
          <p:nvPr/>
        </p:nvSpPr>
        <p:spPr>
          <a:xfrm>
            <a:off x="5166360" y="3785616"/>
            <a:ext cx="73152" cy="502920"/>
          </a:xfrm>
          <a:prstGeom prst="rect">
            <a:avLst/>
          </a:prstGeom>
          <a:solidFill>
            <a:schemeClr val="accent1"/>
          </a:solidFill>
          <a:ln w="12700">
            <a:solidFill>
              <a:schemeClr val="accent1"/>
            </a:solidFill>
            <a:prstDash val="solid"/>
          </a:ln>
        </p:spPr>
      </p:sp>
      <p:sp>
        <p:nvSpPr>
          <p:cNvPr id="17" name="Text 14"/>
          <p:cNvSpPr txBox="1"/>
          <p:nvPr/>
        </p:nvSpPr>
        <p:spPr>
          <a:xfrm>
            <a:off x="5349240" y="3785616"/>
            <a:ext cx="3337560" cy="228600"/>
          </a:xfrm>
          <a:prstGeom prst="rect">
            <a:avLst/>
          </a:prstGeom>
          <a:noFill/>
          <a:ln/>
        </p:spPr>
        <p:txBody>
          <a:bodyPr wrap="square" lIns="0" tIns="0" rIns="0" bIns="0" rtlCol="0" anchor="t"/>
          <a:lstStyle/>
          <a:p>
            <a:pPr indent="0" marL="0">
              <a:buNone/>
            </a:pPr>
            <a:r>
              <a:rPr lang="en-US" sz="1200" b="1" dirty="0">
                <a:solidFill>
                  <a:schemeClr val="tx2"/>
                </a:solidFill>
              </a:rPr>
              <a:t>Explicabilidad</a:t>
            </a:r>
            <a:endParaRPr lang="en-US" sz="1200" dirty="0"/>
          </a:p>
        </p:txBody>
      </p:sp>
      <p:sp>
        <p:nvSpPr>
          <p:cNvPr id="18" name="Text 15"/>
          <p:cNvSpPr txBox="1"/>
          <p:nvPr/>
        </p:nvSpPr>
        <p:spPr>
          <a:xfrm>
            <a:off x="5349240" y="4023360"/>
            <a:ext cx="3337560" cy="274320"/>
          </a:xfrm>
          <a:prstGeom prst="rect">
            <a:avLst/>
          </a:prstGeom>
          <a:noFill/>
          <a:ln/>
        </p:spPr>
        <p:txBody>
          <a:bodyPr wrap="square" lIns="0" tIns="0" rIns="0" bIns="0" rtlCol="0" anchor="t"/>
          <a:lstStyle/>
          <a:p>
            <a:pPr indent="0" marL="0">
              <a:buNone/>
            </a:pPr>
            <a:r>
              <a:rPr lang="en-US" sz="1000" dirty="0">
                <a:solidFill>
                  <a:schemeClr val="accent5"/>
                </a:solidFill>
              </a:rPr>
              <a:t>Métricas, SMART y SHAP</a:t>
            </a:r>
            <a:endParaRPr lang="en-US" sz="1000" dirty="0"/>
          </a:p>
        </p:txBody>
      </p:sp>
      <p:sp>
        <p:nvSpPr>
          <p:cNvPr id="19" name="Text 16"/>
          <p:cNvSpPr txBox="1"/>
          <p:nvPr/>
        </p:nvSpPr>
        <p:spPr>
          <a:xfrm>
            <a:off x="457200" y="4407408"/>
            <a:ext cx="8229600" cy="320040"/>
          </a:xfrm>
          <a:prstGeom prst="rect">
            <a:avLst/>
          </a:prstGeom>
          <a:noFill/>
          <a:ln/>
        </p:spPr>
        <p:txBody>
          <a:bodyPr wrap="square" lIns="0" tIns="0" rIns="0" bIns="0" rtlCol="0" anchor="b"/>
          <a:lstStyle/>
          <a:p>
            <a:pPr indent="0" marL="0">
              <a:buNone/>
            </a:pPr>
            <a:r>
              <a:rPr lang="en-US" sz="950" i="1" dirty="0">
                <a:solidFill>
                  <a:schemeClr val="accent5"/>
                </a:solidFill>
              </a:rPr>
              <a:t>metabric-proyecto-integrador.streamlit.app · Streamlit Community Cloud · Demostración en vivo.</a:t>
            </a:r>
            <a:endParaRPr lang="en-US" sz="95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Las seis metas SMART se cumplieron en el conjunto de prueba</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554480"/>
                <a:gridCol w="3566160"/>
                <a:gridCol w="2194560"/>
                <a:gridCol w="9144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Objetivo</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14708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Criterio</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14708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Resultado</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14708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Cumple</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147089"/>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Regresión</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R² ≥ 0,20</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R² = 0,260</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ctr" indent="0" marL="0">
                        <a:buNone/>
                      </a:pPr>
                      <a:r>
                        <a:rPr lang="en-US" sz="1150" b="1" dirty="0">
                          <a:solidFill>
                            <a:srgbClr val="147089"/>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Regresión</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RMSE menor que el modelo base</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0,902 frente a 0,949</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47089"/>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Clasificación</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F1 macro ≥ 0,75</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F1 = 0,792</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ctr" indent="0" marL="0">
                        <a:buNone/>
                      </a:pPr>
                      <a:r>
                        <a:rPr lang="en-US" sz="1150" b="1" dirty="0">
                          <a:solidFill>
                            <a:srgbClr val="147089"/>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Clasificación</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Superar al modelo base en CV (0,698)</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F1 CV = 0,739</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47089"/>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Clasificación</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Brecha de sobreajuste &lt; 0,15</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Brecha = 0,123</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c>
                  <a:txBody>
                    <a:bodyPr/>
                    <a:lstStyle/>
                    <a:p>
                      <a:pPr algn="ctr" indent="0" marL="0">
                        <a:buNone/>
                      </a:pPr>
                      <a:r>
                        <a:rPr lang="en-US" sz="1150" b="1" dirty="0">
                          <a:solidFill>
                            <a:srgbClr val="147089"/>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EAF2F6"/>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Segmentación</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Codo, silueta, segundo algoritmo y perfiles</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K = 4; Ward y DBSCAN</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47089"/>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91440" marR="91440" marT="45720" marB="45720" anchor="ctr">
                    <a:lnL w="6350" cap="flat" cmpd="sng" algn="ctr">
                      <a:solidFill>
                        <a:srgbClr val="9FB8C4"/>
                      </a:solidFill>
                      <a:prstDash val="solid"/>
                      <a:round/>
                      <a:headEnd type="none" w="med" len="med"/>
                      <a:tailEnd type="none" w="med" len="med"/>
                    </a:lnL>
                    <a:lnR w="6350" cap="flat" cmpd="sng" algn="ctr">
                      <a:solidFill>
                        <a:srgbClr val="9FB8C4"/>
                      </a:solidFill>
                      <a:prstDash val="solid"/>
                      <a:round/>
                      <a:headEnd type="none" w="med" len="med"/>
                      <a:tailEnd type="none" w="med" len="med"/>
                    </a:lnR>
                    <a:lnT w="6350" cap="flat" cmpd="sng" algn="ctr">
                      <a:solidFill>
                        <a:srgbClr val="9FB8C4"/>
                      </a:solidFill>
                      <a:prstDash val="solid"/>
                      <a:round/>
                      <a:headEnd type="none" w="med" len="med"/>
                      <a:tailEnd type="none" w="med" len="med"/>
                    </a:lnT>
                    <a:lnB w="6350" cap="flat" cmpd="sng" algn="ctr">
                      <a:solidFill>
                        <a:srgbClr val="9FB8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457200" y="658368"/>
            <a:ext cx="8229600" cy="566928"/>
          </a:xfrm>
          <a:prstGeom prst="rect">
            <a:avLst/>
          </a:prstGeom>
          <a:noFill/>
          <a:ln/>
        </p:spPr>
        <p:txBody>
          <a:bodyPr wrap="square" lIns="0" tIns="0" rIns="0" bIns="0" rtlCol="0" anchor="ctr"/>
          <a:lstStyle/>
          <a:p>
            <a:pPr algn="l" indent="0" marL="0">
              <a:buNone/>
            </a:pPr>
            <a:r>
              <a:rPr lang="en-US" sz="2200" b="1" dirty="0">
                <a:solidFill>
                  <a:schemeClr val="accent1"/>
                </a:solidFill>
              </a:rPr>
              <a:t>Limitaciones y próximos pasos</a:t>
            </a:r>
            <a:endParaRPr lang="en-US" sz="2200" dirty="0"/>
          </a:p>
        </p:txBody>
      </p:sp>
      <p:sp>
        <p:nvSpPr>
          <p:cNvPr id="3" name="Limitaciones"/>
          <p:cNvSpPr/>
          <p:nvPr/>
        </p:nvSpPr>
        <p:spPr>
          <a:xfrm>
            <a:off x="457200" y="1417320"/>
            <a:ext cx="3977640" cy="2834640"/>
          </a:xfrm>
          <a:prstGeom prst="rect">
            <a:avLst/>
          </a:prstGeom>
          <a:solidFill>
            <a:schemeClr val="bg2"/>
          </a:solidFill>
          <a:ln w="12700">
            <a:solidFill>
              <a:schemeClr val="bg2"/>
            </a:solidFill>
            <a:prstDash val="solid"/>
          </a:ln>
        </p:spPr>
      </p:sp>
      <p:sp>
        <p:nvSpPr>
          <p:cNvPr id="4" name="Text 2"/>
          <p:cNvSpPr txBox="1"/>
          <p:nvPr/>
        </p:nvSpPr>
        <p:spPr>
          <a:xfrm>
            <a:off x="640080" y="1536192"/>
            <a:ext cx="3657600" cy="274320"/>
          </a:xfrm>
          <a:prstGeom prst="rect">
            <a:avLst/>
          </a:prstGeom>
          <a:noFill/>
          <a:ln/>
        </p:spPr>
        <p:txBody>
          <a:bodyPr wrap="square" lIns="0" tIns="0" rIns="0" bIns="0" rtlCol="0" anchor="t"/>
          <a:lstStyle/>
          <a:p>
            <a:pPr indent="0" marL="0">
              <a:buNone/>
            </a:pPr>
            <a:r>
              <a:rPr lang="en-US" sz="1300" b="1" dirty="0">
                <a:solidFill>
                  <a:schemeClr val="accent1"/>
                </a:solidFill>
              </a:rPr>
              <a:t>Limitaciones</a:t>
            </a:r>
            <a:endParaRPr lang="en-US" sz="1300" dirty="0"/>
          </a:p>
        </p:txBody>
      </p:sp>
      <p:sp>
        <p:nvSpPr>
          <p:cNvPr id="5" name="Text 3"/>
          <p:cNvSpPr txBox="1"/>
          <p:nvPr/>
        </p:nvSpPr>
        <p:spPr>
          <a:xfrm>
            <a:off x="640080" y="1901952"/>
            <a:ext cx="3611880" cy="228600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tx1"/>
                </a:solidFill>
              </a:rPr>
              <a:t>Prueba de 286 pacientes: poca potencia para diferencias pequeñas</a:t>
            </a:r>
            <a:endParaRPr lang="en-US" sz="1100" dirty="0"/>
          </a:p>
          <a:p>
            <a:pPr marL="152400" indent="-152400">
              <a:spcAft>
                <a:spcPts val="600"/>
              </a:spcAft>
              <a:buSzPct val="100000"/>
              <a:buChar char="•"/>
            </a:pPr>
            <a:r>
              <a:rPr lang="en-US" sz="1100" dirty="0">
                <a:solidFill>
                  <a:schemeClr val="tx1"/>
                </a:solidFill>
              </a:rPr>
              <a:t>Un solo estudio (Reino Unido y Canadá), sin validación externa</a:t>
            </a:r>
            <a:endParaRPr lang="en-US" sz="1100" dirty="0"/>
          </a:p>
          <a:p>
            <a:pPr marL="152400" indent="-152400">
              <a:spcAft>
                <a:spcPts val="600"/>
              </a:spcAft>
              <a:buSzPct val="100000"/>
              <a:buChar char="•"/>
            </a:pPr>
            <a:r>
              <a:rPr lang="en-US" sz="1100" dirty="0">
                <a:solidFill>
                  <a:schemeClr val="tx1"/>
                </a:solidFill>
              </a:rPr>
              <a:t>489 genes preseleccionados, no el transcriptoma completo</a:t>
            </a:r>
            <a:endParaRPr lang="en-US" sz="1100" dirty="0"/>
          </a:p>
          <a:p>
            <a:pPr marL="152400" indent="-152400">
              <a:spcAft>
                <a:spcPts val="600"/>
              </a:spcAft>
              <a:buSzPct val="100000"/>
              <a:buChar char="•"/>
            </a:pPr>
            <a:r>
              <a:rPr lang="en-US" sz="1100" dirty="0">
                <a:solidFill>
                  <a:schemeClr val="tx1"/>
                </a:solidFill>
              </a:rPr>
              <a:t>El NPI es un índice aproximado del pronóstico</a:t>
            </a:r>
            <a:endParaRPr lang="en-US" sz="1100" dirty="0"/>
          </a:p>
        </p:txBody>
      </p:sp>
      <p:sp>
        <p:nvSpPr>
          <p:cNvPr id="6" name="Próximos pasos"/>
          <p:cNvSpPr/>
          <p:nvPr/>
        </p:nvSpPr>
        <p:spPr>
          <a:xfrm>
            <a:off x="4709160" y="1417320"/>
            <a:ext cx="3977640" cy="2834640"/>
          </a:xfrm>
          <a:prstGeom prst="rect">
            <a:avLst/>
          </a:prstGeom>
          <a:solidFill>
            <a:schemeClr val="tx2"/>
          </a:solidFill>
          <a:ln w="12700">
            <a:solidFill>
              <a:schemeClr val="tx2"/>
            </a:solidFill>
            <a:prstDash val="solid"/>
          </a:ln>
        </p:spPr>
      </p:sp>
      <p:sp>
        <p:nvSpPr>
          <p:cNvPr id="7" name="Text 5"/>
          <p:cNvSpPr txBox="1"/>
          <p:nvPr/>
        </p:nvSpPr>
        <p:spPr>
          <a:xfrm>
            <a:off x="4892040" y="1536192"/>
            <a:ext cx="3657600" cy="274320"/>
          </a:xfrm>
          <a:prstGeom prst="rect">
            <a:avLst/>
          </a:prstGeom>
          <a:noFill/>
          <a:ln/>
        </p:spPr>
        <p:txBody>
          <a:bodyPr wrap="square" lIns="0" tIns="0" rIns="0" bIns="0" rtlCol="0" anchor="t"/>
          <a:lstStyle/>
          <a:p>
            <a:pPr indent="0" marL="0">
              <a:buNone/>
            </a:pPr>
            <a:r>
              <a:rPr lang="en-US" sz="1300" b="1" dirty="0">
                <a:solidFill>
                  <a:schemeClr val="accent2"/>
                </a:solidFill>
              </a:rPr>
              <a:t>Próximos pasos</a:t>
            </a:r>
            <a:endParaRPr lang="en-US" sz="1300" dirty="0"/>
          </a:p>
        </p:txBody>
      </p:sp>
      <p:sp>
        <p:nvSpPr>
          <p:cNvPr id="8" name="Text 6"/>
          <p:cNvSpPr txBox="1"/>
          <p:nvPr/>
        </p:nvSpPr>
        <p:spPr>
          <a:xfrm>
            <a:off x="4892040" y="1901952"/>
            <a:ext cx="3611880" cy="228600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bg1"/>
                </a:solidFill>
              </a:rPr>
              <a:t>Corregir el efecto de lote con ComBat antes de segmentar</a:t>
            </a:r>
            <a:endParaRPr lang="en-US" sz="1100" dirty="0"/>
          </a:p>
          <a:p>
            <a:pPr marL="152400" indent="-152400">
              <a:spcAft>
                <a:spcPts val="600"/>
              </a:spcAft>
              <a:buSzPct val="100000"/>
              <a:buChar char="•"/>
            </a:pPr>
            <a:r>
              <a:rPr lang="en-US" sz="1100" dirty="0">
                <a:solidFill>
                  <a:schemeClr val="bg1"/>
                </a:solidFill>
              </a:rPr>
              <a:t>Modelar la supervivencia con Cox regularizado o bosques de supervivencia</a:t>
            </a:r>
            <a:endParaRPr lang="en-US" sz="1100" dirty="0"/>
          </a:p>
          <a:p>
            <a:pPr marL="152400" indent="-152400">
              <a:spcAft>
                <a:spcPts val="600"/>
              </a:spcAft>
              <a:buSzPct val="100000"/>
              <a:buChar char="•"/>
            </a:pPr>
            <a:r>
              <a:rPr lang="en-US" sz="1100" dirty="0">
                <a:solidFill>
                  <a:schemeClr val="bg1"/>
                </a:solidFill>
              </a:rPr>
              <a:t>Validar en una cohorte externa (TCGA-BRCA)</a:t>
            </a:r>
            <a:endParaRPr lang="en-US" sz="1100" dirty="0"/>
          </a:p>
          <a:p>
            <a:pPr marL="152400" indent="-152400">
              <a:spcAft>
                <a:spcPts val="600"/>
              </a:spcAft>
              <a:buSzPct val="100000"/>
              <a:buChar char="•"/>
            </a:pPr>
            <a:r>
              <a:rPr lang="en-US" sz="1100" dirty="0">
                <a:solidFill>
                  <a:schemeClr val="bg1"/>
                </a:solidFill>
              </a:rPr>
              <a:t>Calibrar las probabilidades del clasificador</a:t>
            </a:r>
            <a:endParaRPr lang="en-US" sz="11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Logos de la Universidad de La Salle">    </p:cNvPr>
          <p:cNvPicPr>
            <a:picLocks noChangeAspect="1"/>
          </p:cNvPicPr>
          <p:nvPr/>
        </p:nvPicPr>
        <p:blipFill>
          <a:blip r:embed="rId1"/>
          <a:stretch>
            <a:fillRect/>
          </a:stretch>
        </p:blipFill>
        <p:spPr>
          <a:xfrm>
            <a:off x="411480" y="365760"/>
            <a:ext cx="1581912" cy="548640"/>
          </a:xfrm>
          <a:prstGeom prst="rect">
            <a:avLst/>
          </a:prstGeom>
        </p:spPr>
      </p:pic>
      <p:sp>
        <p:nvSpPr>
          <p:cNvPr id="3" name="Text 0"/>
          <p:cNvSpPr txBox="1"/>
          <p:nvPr/>
        </p:nvSpPr>
        <p:spPr>
          <a:xfrm>
            <a:off x="457200" y="1554480"/>
            <a:ext cx="8229600" cy="548640"/>
          </a:xfrm>
          <a:prstGeom prst="rect">
            <a:avLst/>
          </a:prstGeom>
          <a:noFill/>
          <a:ln/>
        </p:spPr>
        <p:txBody>
          <a:bodyPr wrap="square" lIns="0" tIns="0" rIns="0" bIns="0" rtlCol="0" anchor="ctr"/>
          <a:lstStyle/>
          <a:p>
            <a:pPr indent="0" marL="0">
              <a:buNone/>
            </a:pPr>
            <a:r>
              <a:rPr lang="en-US" sz="3000" b="1" dirty="0">
                <a:solidFill>
                  <a:schemeClr val="bg1"/>
                </a:solidFill>
              </a:rPr>
              <a:t>R² 0,26 · F1 0,79 · 4 perfiles</a:t>
            </a:r>
            <a:endParaRPr lang="en-US" sz="3000" dirty="0"/>
          </a:p>
        </p:txBody>
      </p:sp>
      <p:sp>
        <p:nvSpPr>
          <p:cNvPr id="4" name="Text 1"/>
          <p:cNvSpPr txBox="1"/>
          <p:nvPr/>
        </p:nvSpPr>
        <p:spPr>
          <a:xfrm>
            <a:off x="457200" y="2194560"/>
            <a:ext cx="7863840" cy="822960"/>
          </a:xfrm>
          <a:prstGeom prst="rect">
            <a:avLst/>
          </a:prstGeom>
          <a:noFill/>
          <a:ln/>
        </p:spPr>
        <p:txBody>
          <a:bodyPr wrap="square" lIns="0" tIns="0" rIns="0" bIns="0" rtlCol="0" anchor="t"/>
          <a:lstStyle/>
          <a:p>
            <a:pPr indent="0" marL="0">
              <a:buNone/>
            </a:pPr>
            <a:r>
              <a:rPr lang="en-US" sz="1400" dirty="0">
                <a:solidFill>
                  <a:schemeClr val="bg1"/>
                </a:solidFill>
              </a:rPr>
              <a:t>La biología del tumor anticipa parte del pronóstico, identifica el subtipo molecular con alta precisión y agrupa a las pacientes en perfiles de riesgo, con un diseño reproducible y sin fuga de información.</a:t>
            </a:r>
            <a:endParaRPr lang="en-US" sz="1400" dirty="0"/>
          </a:p>
        </p:txBody>
      </p:sp>
      <p:sp>
        <p:nvSpPr>
          <p:cNvPr id="5" name="Text 2"/>
          <p:cNvSpPr txBox="1"/>
          <p:nvPr/>
        </p:nvSpPr>
        <p:spPr>
          <a:xfrm>
            <a:off x="457200" y="3383280"/>
            <a:ext cx="8229600" cy="411480"/>
          </a:xfrm>
          <a:prstGeom prst="rect">
            <a:avLst/>
          </a:prstGeom>
          <a:noFill/>
          <a:ln/>
        </p:spPr>
        <p:txBody>
          <a:bodyPr wrap="square" lIns="0" tIns="0" rIns="0" bIns="0" rtlCol="0" anchor="ctr"/>
          <a:lstStyle/>
          <a:p>
            <a:pPr indent="0" marL="0">
              <a:buNone/>
            </a:pPr>
            <a:r>
              <a:rPr lang="en-US" sz="2000" b="1" dirty="0">
                <a:solidFill>
                  <a:schemeClr val="accent2"/>
                </a:solidFill>
              </a:rPr>
              <a:t>Preguntas y comentarios</a:t>
            </a:r>
            <a:endParaRPr lang="en-US" sz="2000" dirty="0"/>
          </a:p>
        </p:txBody>
      </p:sp>
      <p:sp>
        <p:nvSpPr>
          <p:cNvPr id="6" name="Text 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200" dirty="0">
                <a:solidFill>
                  <a:schemeClr val="accent3"/>
                </a:solidFill>
              </a:rPr>
              <a:t>github.com/MartinGia/metabric-proyecto-integrador · metabric-proyecto-integrador.streamlit.app</a:t>
            </a:r>
            <a:endParaRPr lang="en-US" sz="1200" dirty="0"/>
          </a:p>
        </p:txBody>
      </p:sp>
    </p:spTree>
  </p:cSld>
  <p:clrMapOvr>
    <a:masterClrMapping/>
  </p:clrMapOvr>
</p:sld>
</file>

<file path=ppt/theme/theme1.xml><?xml version="1.0" encoding="utf-8"?>
<a:theme xmlns:a="http://schemas.openxmlformats.org/drawingml/2006/main" name="La Salle MIA">
  <a:themeElements>
    <a:clrScheme name="La Salle MIA">
      <a:dk1>
        <a:srgbClr val="1F2933"/>
      </a:dk1>
      <a:lt1>
        <a:srgbClr val="FFFFFF"/>
      </a:lt1>
      <a:dk2>
        <a:srgbClr val="0E2841"/>
      </a:dk2>
      <a:lt2>
        <a:srgbClr val="EAF2F6"/>
      </a:lt2>
      <a:accent1>
        <a:srgbClr val="147089"/>
      </a:accent1>
      <a:accent2>
        <a:srgbClr val="FCB50F"/>
      </a:accent2>
      <a:accent3>
        <a:srgbClr val="6DC2DE"/>
      </a:accent3>
      <a:accent4>
        <a:srgbClr val="E97132"/>
      </a:accent4>
      <a:accent5>
        <a:srgbClr val="64748B"/>
      </a:accent5>
      <a:accent6>
        <a:srgbClr val="9FB8C4"/>
      </a:accent6>
      <a:hlink>
        <a:srgbClr val="147089"/>
      </a:hlink>
      <a:folHlink>
        <a:srgbClr val="0E2841"/>
      </a:folHlink>
    </a:clrScheme>
    <a:fontScheme name="La Salle MI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Pronóstico y subtipo molecular del cáncer de mama con METABRIC</dc:title>
  <dc:subject>PptxGenJS Presentation</dc:subject>
  <dc:creator>Martín Gracia Socha</dc:creator>
  <cp:lastModifiedBy>Martín Gracia Socha</cp:lastModifiedBy>
  <cp:revision>1</cp:revision>
  <dcterms:created xsi:type="dcterms:W3CDTF">2026-10-25T17:32:07Z</dcterms:created>
  <dcterms:modified xsi:type="dcterms:W3CDTF">2026-10-25T17:32:07Z</dcterms:modified>
</cp:coreProperties>
</file>