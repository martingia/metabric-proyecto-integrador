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6b2f5802-59d7-9089-f483-80283683477b}">
          <p14:sldIdLst>
            <p14:sldId id="256"/>
            <p14:sldId id="257"/>
          </p14:sldIdLst>
        </p14:section>
        <p14:section name="Problema y datos" id="{ca2d10cb-7e7a-31b6-f648-054745c9d56d}">
          <p14:sldIdLst>
            <p14:sldId id="258"/>
            <p14:sldId id="259"/>
          </p14:sldIdLst>
        </p14:section>
        <p14:section name="Metodología" id="{24b31280-8546-b141-fd26-55f5ad2050db}">
          <p14:sldIdLst>
            <p14:sldId id="260"/>
          </p14:sldIdLst>
        </p14:section>
        <p14:section name="Resultados" id="{48f5ab73-82fe-d7ea-da7f-17897c185c81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ashboard" id="{50654fb9-cd21-2f42-d78f-7ed2401e61c7}">
          <p14:sldIdLst>
            <p14:sldId id="267"/>
          </p14:sldIdLst>
        </p14:section>
        <p14:section name="Cierre" id="{956c12ab-3928-fcb9-9ea1-f938f140cbf3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+mn-lt"/>
              </a:rPr>
              <a:t>RMSE del NPI en prueba (menor es mejor)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en prueba</c:v>
                </c:pt>
              </c:strCache>
            </c:strRef>
          </c:tx>
          <c:spPr>
            <a:solidFill>
              <a:srgbClr val="9FB8C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8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8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70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C2D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DC2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DC2D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Dummy</c:v>
                  </c:pt>
                  <c:pt idx="1">
                    <c:v>Base (proliferación)</c:v>
                  </c:pt>
                  <c:pt idx="2">
                    <c:v>Ridge</c:v>
                  </c:pt>
                  <c:pt idx="3">
                    <c:v>ElasticNet</c:v>
                  </c:pt>
                  <c:pt idx="4">
                    <c:v>Random Forest</c:v>
                  </c:pt>
                  <c:pt idx="5">
                    <c:v>XGBoost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1.048</c:v>
                </c:pt>
                <c:pt idx="1">
                  <c:v>0.949</c:v>
                </c:pt>
                <c:pt idx="2">
                  <c:v>0.902</c:v>
                </c:pt>
                <c:pt idx="3">
                  <c:v>0.909</c:v>
                </c:pt>
                <c:pt idx="4">
                  <c:v>0.904</c:v>
                </c:pt>
                <c:pt idx="5">
                  <c:v>0.901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b"/>
        <c:majorGridlines>
          <c:spPr>
            <a:ln w="6350" cap="flat">
              <a:solidFill>
                <a:srgbClr val="EA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+mn-lt"/>
              </a:rPr>
              <a:t>F1 macro del subtipo PAM50 en prueba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macro en prueba</c:v>
                </c:pt>
              </c:strCache>
            </c:strRef>
          </c:tx>
          <c:spPr>
            <a:solidFill>
              <a:srgbClr val="14708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70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C2D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C2D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C2D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DC2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FB8C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SelectKBest + logística (final)</c:v>
                  </c:pt>
                  <c:pt idx="1">
                    <c:v>SVM</c:v>
                  </c:pt>
                  <c:pt idx="2">
                    <c:v>Logística L2</c:v>
                  </c:pt>
                  <c:pt idx="3">
                    <c:v>XGBoost</c:v>
                  </c:pt>
                  <c:pt idx="4">
                    <c:v>MLP (PyTorch)</c:v>
                  </c:pt>
                  <c:pt idx="5">
                    <c:v>Base: logística básica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0.792</c:v>
                </c:pt>
                <c:pt idx="1">
                  <c:v>0.762</c:v>
                </c:pt>
                <c:pt idx="2">
                  <c:v>0.757</c:v>
                </c:pt>
                <c:pt idx="3">
                  <c:v>0.753</c:v>
                </c:pt>
                <c:pt idx="4">
                  <c:v>0.729</c:v>
                </c:pt>
                <c:pt idx="5">
                  <c:v>0.721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A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+mn-lt"/>
              </a:rPr>
              <a:t>Mortalidad por cáncer por clúster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Mortalidad por cáncer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70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8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C2D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Clúster 0 (ER−)</c:v>
                  </c:pt>
                  <c:pt idx="1">
                    <c:v>Clúster 1 (luminal)</c:v>
                  </c:pt>
                  <c:pt idx="2">
                    <c:v>Clúster 2 (lote)</c:v>
                  </c:pt>
                  <c:pt idx="3">
                    <c:v>Clúster 3 (luminal)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0.28</c:v>
                </c:pt>
                <c:pt idx="2">
                  <c:v>0.36</c:v>
                </c:pt>
                <c:pt idx="3">
                  <c:v>0.32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EAF2F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8fa47e6-1c62-5f94-829a-db6df9aa7a31/scratchpad/tpl/u/ppt/media/image-100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"/>
            <a:ext cx="1316736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0" y="164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Maestría en Inteligencia Artificial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481888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Proyecto Integrador METABRIC · Ciencia de Datos · Universidad de La Salle · Noviembre de 2026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Título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470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uadro portada"/>
          <p:cNvSpPr/>
          <p:nvPr/>
        </p:nvSpPr>
        <p:spPr>
          <a:xfrm>
            <a:off x="1051560" y="1874520"/>
            <a:ext cx="7040880" cy="1737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19933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Proyecto Integrador · Ciencia de Datos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30428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Pronóstico y subtipo molecular del cáncer de mama con datos clínicos y genómicos de METABRIC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12724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Martín Gracia Socha · Maestría en Inteligencia Artificial · Universidad de La Salle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34670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Sustentación final · Docente: Fabián Camilo Castro Riveros · Noviembre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La genómica predice el subtipo con F1 de 0,79 y mejora el pronóstico</a:t>
            </a:r>
            <a:endParaRPr lang="en-US" sz="2200" dirty="0"/>
          </a:p>
        </p:txBody>
      </p:sp>
      <p:sp>
        <p:nvSpPr>
          <p:cNvPr id="3" name="Tarjeta 0,260"/>
          <p:cNvSpPr/>
          <p:nvPr/>
        </p:nvSpPr>
        <p:spPr>
          <a:xfrm>
            <a:off x="457200" y="1481328"/>
            <a:ext cx="1920240" cy="2331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664208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0,260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395728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R² del NPI en prueba, sin usar tamaño, ganglios ni grado</a:t>
            </a:r>
            <a:endParaRPr lang="en-US" sz="1150" dirty="0"/>
          </a:p>
        </p:txBody>
      </p:sp>
      <p:sp>
        <p:nvSpPr>
          <p:cNvPr id="6" name="Tarjeta 0,792"/>
          <p:cNvSpPr/>
          <p:nvPr/>
        </p:nvSpPr>
        <p:spPr>
          <a:xfrm>
            <a:off x="2560320" y="1481328"/>
            <a:ext cx="1920240" cy="2331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24912" y="1664208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0,792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724912" y="2395728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F1 macro del subtipo PAM50 en prueba (meta: 0,75)</a:t>
            </a:r>
            <a:endParaRPr lang="en-US" sz="1150" dirty="0"/>
          </a:p>
        </p:txBody>
      </p:sp>
      <p:sp>
        <p:nvSpPr>
          <p:cNvPr id="9" name="Tarjeta 0,967"/>
          <p:cNvSpPr/>
          <p:nvPr/>
        </p:nvSpPr>
        <p:spPr>
          <a:xfrm>
            <a:off x="4663440" y="1481328"/>
            <a:ext cx="1920240" cy="2331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664208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0,967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395728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AUC-ROC del clasificador final en seis subtipos</a:t>
            </a:r>
            <a:endParaRPr lang="en-US" sz="1150" dirty="0"/>
          </a:p>
        </p:txBody>
      </p:sp>
      <p:sp>
        <p:nvSpPr>
          <p:cNvPr id="12" name="Tarjeta 4"/>
          <p:cNvSpPr/>
          <p:nvPr/>
        </p:nvSpPr>
        <p:spPr>
          <a:xfrm>
            <a:off x="6766560" y="1481328"/>
            <a:ext cx="1920240" cy="2331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31152" y="1664208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31152" y="2395728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perfiles de pacientes con K-Means; uno es un efecto de lote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Resultados en el conjunto de prueba (286 pacientes), usado una sola vez. Todas las metas SMART se cumplieron.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Tres preguntas sobre 1.904 pacientes con cáncer de mama</a:t>
            </a:r>
            <a:endParaRPr lang="en-US" sz="2200" dirty="0"/>
          </a:p>
        </p:txBody>
      </p:sp>
      <p:sp>
        <p:nvSpPr>
          <p:cNvPr id="3" name="Número 1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463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¿Cuánto del pronóstico explica la biología del tumor?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773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Regresión del Nottingham Prognostic Index (NPI) sin sus componentes. Meta: R² ≥ 0,20</a:t>
            </a:r>
            <a:endParaRPr lang="en-US" sz="1100" dirty="0"/>
          </a:p>
        </p:txBody>
      </p:sp>
      <p:sp>
        <p:nvSpPr>
          <p:cNvPr id="7" name="Número 2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423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¿Puede la expresión génica identificar el subtipo PAM50?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7340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Clasificación en seis subtipos. Meta: F1 macro ≥ 0,75 y brecha de sobreajuste &lt; 0,15</a:t>
            </a:r>
            <a:endParaRPr lang="en-US" sz="1100" dirty="0"/>
          </a:p>
        </p:txBody>
      </p:sp>
      <p:sp>
        <p:nvSpPr>
          <p:cNvPr id="11" name="Número 3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383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¿Se agrupan las pacientes en perfiles de riesgo?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694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Segmentación no supervisada con dos algoritmos y perfiles interpretables</a:t>
            </a:r>
            <a:endParaRPr lang="en-US" sz="1100" dirty="0"/>
          </a:p>
        </p:txBody>
      </p:sp>
      <p:sp>
        <p:nvSpPr>
          <p:cNvPr id="15" name="Recuadro contexto"/>
          <p:cNvSpPr/>
          <p:nvPr/>
        </p:nvSpPr>
        <p:spPr>
          <a:xfrm>
            <a:off x="5943600" y="1417320"/>
            <a:ext cx="2743200" cy="2788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Contexto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92024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2,3 millones de casos nuevos al año en el mundo (Sung et al., 2021)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Seis subtipos moleculares con pronóstico distinto (Parker et al., 2009)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El NPI combina tamaño, ganglios y grado (Haybittle et al., 1982)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METABRIC une 31 variables clínicas con 489 genes y 173 mutaciones</a:t>
            </a:r>
            <a:endParaRPr lang="en-US" sz="2200" dirty="0"/>
          </a:p>
        </p:txBody>
      </p:sp>
      <p:sp>
        <p:nvSpPr>
          <p:cNvPr id="3" name="Dato 1.904"/>
          <p:cNvSpPr/>
          <p:nvPr/>
        </p:nvSpPr>
        <p:spPr>
          <a:xfrm>
            <a:off x="457200" y="1417320"/>
            <a:ext cx="137160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81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1.904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5681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pacientes de Reino Unido y Canadá</a:t>
            </a:r>
            <a:endParaRPr lang="en-US" sz="1000" dirty="0"/>
          </a:p>
        </p:txBody>
      </p:sp>
      <p:sp>
        <p:nvSpPr>
          <p:cNvPr id="6" name="Dato 693"/>
          <p:cNvSpPr/>
          <p:nvPr/>
        </p:nvSpPr>
        <p:spPr>
          <a:xfrm>
            <a:off x="1938528" y="1417320"/>
            <a:ext cx="137160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48256" y="1481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693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048256" y="195681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variables por paciente</a:t>
            </a:r>
            <a:endParaRPr lang="en-US" sz="1000" dirty="0"/>
          </a:p>
        </p:txBody>
      </p:sp>
      <p:sp>
        <p:nvSpPr>
          <p:cNvPr id="9" name="Dato 26,5 %"/>
          <p:cNvSpPr/>
          <p:nvPr/>
        </p:nvSpPr>
        <p:spPr>
          <a:xfrm>
            <a:off x="3419856" y="1417320"/>
            <a:ext cx="137160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1481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26,5 %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195681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máximo de faltantes (estadio); depende del centro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Luminal A es el subtipo más frecuente (36 %); el 77 % de los tumores son ER positivos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Los genes de proliferación suben con el NPI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La expresión génica separa los tumores ER negativos en el plano PCA</a:t>
            </a:r>
            <a:endParaRPr lang="en-US" sz="1150" dirty="0"/>
          </a:p>
        </p:txBody>
      </p:sp>
      <p:pic>
        <p:nvPicPr>
          <p:cNvPr id="13" name="Image 0" descr="Varianza explicada y proyección PCA de los genes coloreada por subt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600200"/>
            <a:ext cx="3749040" cy="10094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983480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La proyección PCA de los 489 genes ya separa los subtipos antes de modelar.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Fuente: Curtis et al. (2012) y Pereira et al. (2016), versión de Kaggle (Alharbi, 2020). Tras excluir un sarcoma quedan 1.903 pacientes.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Un diseño sin fuga de información: la prueba se abrió una sola vez</a:t>
            </a:r>
            <a:endParaRPr lang="en-US" sz="2200" dirty="0"/>
          </a:p>
        </p:txBody>
      </p:sp>
      <p:sp>
        <p:nvSpPr>
          <p:cNvPr id="3" name="Paso 1"/>
          <p:cNvSpPr/>
          <p:nvPr/>
        </p:nvSpPr>
        <p:spPr>
          <a:xfrm>
            <a:off x="457200" y="1508760"/>
            <a:ext cx="155448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84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Limpieza determinística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Reglas fila por fila; 18 grados deducidos del NPI y 57 NPI no válidos</a:t>
            </a:r>
            <a:endParaRPr lang="en-US" sz="1000" dirty="0"/>
          </a:p>
        </p:txBody>
      </p:sp>
      <p:sp>
        <p:nvSpPr>
          <p:cNvPr id="7" name="Paso 2"/>
          <p:cNvSpPr/>
          <p:nvPr/>
        </p:nvSpPr>
        <p:spPr>
          <a:xfrm>
            <a:off x="2139696" y="1508760"/>
            <a:ext cx="155448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76856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76856" y="2084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Partición 70/15/15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76856" y="260604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Estratificada por subtipo y con semilla fija: 1.332 / 285 / 286</a:t>
            </a:r>
            <a:endParaRPr lang="en-US" sz="1000" dirty="0"/>
          </a:p>
        </p:txBody>
      </p:sp>
      <p:sp>
        <p:nvSpPr>
          <p:cNvPr id="11" name="Paso 3"/>
          <p:cNvSpPr/>
          <p:nvPr/>
        </p:nvSpPr>
        <p:spPr>
          <a:xfrm>
            <a:off x="3822192" y="1508760"/>
            <a:ext cx="155448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59352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959352" y="2084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Pipeline en entrenamiento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59352" y="260604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Winsorización, escalado, IterativeImputer y One-Hot ajustados solo en train</a:t>
            </a:r>
            <a:endParaRPr lang="en-US" sz="1000" dirty="0"/>
          </a:p>
        </p:txBody>
      </p:sp>
      <p:sp>
        <p:nvSpPr>
          <p:cNvPr id="15" name="Paso 4"/>
          <p:cNvSpPr/>
          <p:nvPr/>
        </p:nvSpPr>
        <p:spPr>
          <a:xfrm>
            <a:off x="5504688" y="1508760"/>
            <a:ext cx="155448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41848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641848" y="2084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CV de 5 pliegues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41848" y="260604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Hiperparámetros y reglas de selección fijadas de antemano</a:t>
            </a:r>
            <a:endParaRPr lang="en-US" sz="1000" dirty="0"/>
          </a:p>
        </p:txBody>
      </p:sp>
      <p:sp>
        <p:nvSpPr>
          <p:cNvPr id="19" name="Paso 5"/>
          <p:cNvSpPr/>
          <p:nvPr/>
        </p:nvSpPr>
        <p:spPr>
          <a:xfrm>
            <a:off x="7187184" y="1508760"/>
            <a:ext cx="1554480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24344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24344" y="2084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Prueba única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24344" y="260604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Bootstrap, McNemar y Wilcoxon sobre 286 pacientes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Variables derivadas con respaldo bibliográfico: puntaje de proliferación (7 genes), grupo por receptores, triple negativo y mutaciones en genes conductores. Para la regresión se excluyeron tamaño, ganglios y grado, porque con ellos se calcula el NPI.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Ridge explica el 26 % del NPI; los modelos complejos no lo superan</a:t>
            </a:r>
            <a:endParaRPr lang="en-US" sz="2200" dirty="0"/>
          </a:p>
        </p:txBody>
      </p:sp>
      <p:graphicFrame>
        <p:nvGraphicFramePr>
          <p:cNvPr id="3" name="Gráfico RMSE" descr=""/>
          <p:cNvGraphicFramePr/>
          <p:nvPr/>
        </p:nvGraphicFramePr>
        <p:xfrm>
          <a:off x="457200" y="1371600"/>
          <a:ext cx="51206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0,260"/>
          <p:cNvSpPr/>
          <p:nvPr/>
        </p:nvSpPr>
        <p:spPr>
          <a:xfrm>
            <a:off x="5852160" y="1417320"/>
            <a:ext cx="2834640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16752" y="1600200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0,260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016752" y="233172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R² de Ridge en prueba (IC 95 %: 0,175 a 0,332)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31546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Mejora significativa frente al modelo base: ΔRMSE = 0,047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Los cuatro modelos avanzados son equivalentes (Wilcoxon, p &gt; 0,2)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Regla de un error estándar: se elige el más simple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El clasificador final alcanza F1 de 0,79 en pacientes nunca vistas</a:t>
            </a:r>
            <a:endParaRPr lang="en-US" sz="2200" dirty="0"/>
          </a:p>
        </p:txBody>
      </p:sp>
      <p:graphicFrame>
        <p:nvGraphicFramePr>
          <p:cNvPr id="3" name="Gráfico F1" descr=""/>
          <p:cNvGraphicFramePr/>
          <p:nvPr/>
        </p:nvGraphicFramePr>
        <p:xfrm>
          <a:off x="457200" y="1371600"/>
          <a:ext cx="51206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0,38 → 0,79"/>
          <p:cNvSpPr/>
          <p:nvPr/>
        </p:nvSpPr>
        <p:spPr>
          <a:xfrm>
            <a:off x="5852160" y="1417320"/>
            <a:ext cx="2834640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16752" y="1600200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0,38 → 0,79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016752" y="233172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F1 con solo ER, PR y HER2 frente a F1 con expresión génica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31546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AUC-ROC = 0,967; exactitud = 0,804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Normal-like es la clase más difícil (F1 = 0,59)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McNemar no separa los modelos: la prueba tiene poca potencia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La selección de 200 genes redujo el sobreajuste a la mitad</a:t>
            </a:r>
            <a:endParaRPr lang="en-US" sz="2200" dirty="0"/>
          </a:p>
        </p:txBody>
      </p:sp>
      <p:pic>
        <p:nvPicPr>
          <p:cNvPr id="3" name="Image 0" descr="F1 de validación cruzada frente a la brecha de sobreajuste de cada configur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937760" cy="2603607"/>
          </a:xfrm>
          <a:prstGeom prst="rect">
            <a:avLst/>
          </a:prstGeom>
        </p:spPr>
      </p:pic>
      <p:sp>
        <p:nvSpPr>
          <p:cNvPr id="4" name="Antes"/>
          <p:cNvSpPr/>
          <p:nvPr/>
        </p:nvSpPr>
        <p:spPr>
          <a:xfrm>
            <a:off x="5669280" y="1417320"/>
            <a:ext cx="30175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Antes: 0,22 a 0,27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9202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Brecha entre F1 de entrenamiento y de CV de los modelos de la fase de ajuste</a:t>
            </a:r>
            <a:endParaRPr lang="en-US" sz="1050" dirty="0"/>
          </a:p>
        </p:txBody>
      </p:sp>
      <p:sp>
        <p:nvSpPr>
          <p:cNvPr id="7" name="Después"/>
          <p:cNvSpPr/>
          <p:nvPr/>
        </p:nvSpPr>
        <p:spPr>
          <a:xfrm>
            <a:off x="5669280" y="2880360"/>
            <a:ext cx="3017520" cy="1325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Después: 0,123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33832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SelectKBest (k = 200) + logística L2 con C = 0,01; F1 de CV = 0,739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Regla fijada antes de abrir la prueba: mayor F1 de CV entre las configuraciones con brecha &lt; 0,15. La de mayor F1 (0,750) se descartó por su brecha de 0,163.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Los modelos redescubren la biología conocida de cada subtipo</a:t>
            </a:r>
            <a:endParaRPr lang="en-US" sz="2200" dirty="0"/>
          </a:p>
        </p:txBody>
      </p:sp>
      <p:pic>
        <p:nvPicPr>
          <p:cNvPr id="3" name="Image 0" descr="Valores SHAP de XGBoost por clase y para los subtipos Basal y Luminal 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2704539"/>
          </a:xfrm>
          <a:prstGeom prst="rect">
            <a:avLst/>
          </a:prstGeom>
        </p:spPr>
      </p:pic>
      <p:sp>
        <p:nvSpPr>
          <p:cNvPr id="4" name="Gen ERBB2"/>
          <p:cNvSpPr/>
          <p:nvPr/>
        </p:nvSpPr>
        <p:spPr>
          <a:xfrm>
            <a:off x="457200" y="4114800"/>
            <a:ext cx="155448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1330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ERBB2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HER2</a:t>
            </a:r>
            <a:endParaRPr lang="en-US" sz="1000" dirty="0"/>
          </a:p>
        </p:txBody>
      </p:sp>
      <p:sp>
        <p:nvSpPr>
          <p:cNvPr id="6" name="Gen GATA3, ERBB3"/>
          <p:cNvSpPr/>
          <p:nvPr/>
        </p:nvSpPr>
        <p:spPr>
          <a:xfrm>
            <a:off x="2121408" y="4114800"/>
            <a:ext cx="155448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94560" y="41330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GATA3, ERBB3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Luminales</a:t>
            </a:r>
            <a:endParaRPr lang="en-US" sz="1000" dirty="0"/>
          </a:p>
        </p:txBody>
      </p:sp>
      <p:sp>
        <p:nvSpPr>
          <p:cNvPr id="8" name="Gen Proliferación"/>
          <p:cNvSpPr/>
          <p:nvPr/>
        </p:nvSpPr>
        <p:spPr>
          <a:xfrm>
            <a:off x="3785616" y="4114800"/>
            <a:ext cx="155448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58768" y="41330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Proliferación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Luminal A frente a B</a:t>
            </a:r>
            <a:endParaRPr lang="en-US" sz="1000" dirty="0"/>
          </a:p>
        </p:txBody>
      </p:sp>
      <p:sp>
        <p:nvSpPr>
          <p:cNvPr id="10" name="Gen EGFR, NOTCH1"/>
          <p:cNvSpPr/>
          <p:nvPr/>
        </p:nvSpPr>
        <p:spPr>
          <a:xfrm>
            <a:off x="5449824" y="4114800"/>
            <a:ext cx="155448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22976" y="41330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EGFR, NOTCH1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Basal</a:t>
            </a:r>
            <a:endParaRPr lang="en-US" sz="1000" dirty="0"/>
          </a:p>
        </p:txBody>
      </p:sp>
      <p:sp>
        <p:nvSpPr>
          <p:cNvPr id="12" name="Gen CSF1R"/>
          <p:cNvSpPr/>
          <p:nvPr/>
        </p:nvSpPr>
        <p:spPr>
          <a:xfrm>
            <a:off x="7114032" y="4114800"/>
            <a:ext cx="155448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87184" y="41330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CSF1R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Claudin-low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K-Means separa un grupo agresivo con 41 % de mortalidad por cáncer</a:t>
            </a:r>
            <a:endParaRPr lang="en-US" sz="2200" dirty="0"/>
          </a:p>
        </p:txBody>
      </p:sp>
      <p:graphicFrame>
        <p:nvGraphicFramePr>
          <p:cNvPr id="3" name="Gráfico mortalidad" descr=""/>
          <p:cNvGraphicFramePr/>
          <p:nvPr/>
        </p:nvGraphicFramePr>
        <p:xfrm>
          <a:off x="457200" y="1371600"/>
          <a:ext cx="42062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4630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K = 4 por el codo y un máximo local de la silueta (0,158)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Muy estable: ARI medio de 0,93 en submuestras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Ward como segundo algoritmo; DBSCAN no es adecuado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Clúster 0: 86 % ER negativo, alta proliferación, TP53 mutado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La estructura se mantiene en prueba (silueta = 0,150)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Un clúster refleja diferencias entre centros, no biología</a:t>
            </a:r>
            <a:endParaRPr lang="en-US" sz="2200" dirty="0"/>
          </a:p>
        </p:txBody>
      </p:sp>
      <p:sp>
        <p:nvSpPr>
          <p:cNvPr id="3" name="Tarjeta 82,6 %"/>
          <p:cNvSpPr/>
          <p:nvPr/>
        </p:nvSpPr>
        <p:spPr>
          <a:xfrm>
            <a:off x="457200" y="1463040"/>
            <a:ext cx="2377440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64592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82,6 %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37744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del clúster 2 viene de la cohorte C3</a:t>
            </a:r>
            <a:endParaRPr lang="en-US" sz="1150" dirty="0"/>
          </a:p>
        </p:txBody>
      </p:sp>
      <p:sp>
        <p:nvSpPr>
          <p:cNvPr id="6" name="Tarjeta 38,5 %"/>
          <p:cNvSpPr/>
          <p:nvPr/>
        </p:nvSpPr>
        <p:spPr>
          <a:xfrm>
            <a:off x="3017520" y="1463040"/>
            <a:ext cx="237744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82112" y="164592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38,5 %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182112" y="237744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peso de la cohorte C3 en toda la muestra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74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Sus genes distintivos no forman una firma biológica coherente. Aun así, la segmentación global se explica por la biología: ARI con PAM50 = 0,208 frente a 0,025 con la cohorte.</a:t>
            </a:r>
            <a:endParaRPr lang="en-US" sz="1150" dirty="0"/>
          </a:p>
        </p:txBody>
      </p:sp>
      <p:pic>
        <p:nvPicPr>
          <p:cNvPr id="10" name="Image 0" descr="Mapa de calor de los genes que más distinguen a cada clú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2926080" cy="293356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Trabajo futuro: corregir el efecto de lote con ComBat (Johnson et al., 2007) antes de segmentar.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El dashboard lleva los modelos a una consulta en tiempo real</a:t>
            </a:r>
            <a:endParaRPr lang="en-US" sz="2200" dirty="0"/>
          </a:p>
        </p:txBody>
      </p:sp>
      <p:pic>
        <p:nvPicPr>
          <p:cNvPr id="3" name="Image 0" descr="Pestaña de predicción en vivo del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480560" cy="3111500"/>
          </a:xfrm>
          <a:prstGeom prst="rect">
            <a:avLst/>
          </a:prstGeom>
        </p:spPr>
      </p:pic>
      <p:sp>
        <p:nvSpPr>
          <p:cNvPr id="4" name="Marca Filtros"/>
          <p:cNvSpPr/>
          <p:nvPr/>
        </p:nvSpPr>
        <p:spPr>
          <a:xfrm>
            <a:off x="5166360" y="1371600"/>
            <a:ext cx="73152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49240" y="13716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Filtros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349240" y="1609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Seguimiento, edad, NPI, subtipo, receptores y clúster</a:t>
            </a:r>
            <a:endParaRPr lang="en-US" sz="1000" dirty="0"/>
          </a:p>
        </p:txBody>
      </p:sp>
      <p:sp>
        <p:nvSpPr>
          <p:cNvPr id="7" name="Marca KPI y narrativa"/>
          <p:cNvSpPr/>
          <p:nvPr/>
        </p:nvSpPr>
        <p:spPr>
          <a:xfrm>
            <a:off x="5166360" y="1975104"/>
            <a:ext cx="73152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49240" y="197510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KPI y narrativa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2212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Tres ideas clave y curvas de Kaplan-Meier</a:t>
            </a:r>
            <a:endParaRPr lang="en-US" sz="1000" dirty="0"/>
          </a:p>
        </p:txBody>
      </p:sp>
      <p:sp>
        <p:nvSpPr>
          <p:cNvPr id="10" name="Marca Predicción en vivo"/>
          <p:cNvSpPr/>
          <p:nvPr/>
        </p:nvSpPr>
        <p:spPr>
          <a:xfrm>
            <a:off x="5166360" y="2578608"/>
            <a:ext cx="73152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49240" y="25786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Predicción en vivo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28163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NPI, probabilidades de subtipo y clúster de un perfil editable</a:t>
            </a:r>
            <a:endParaRPr lang="en-US" sz="1000" dirty="0"/>
          </a:p>
        </p:txBody>
      </p:sp>
      <p:sp>
        <p:nvSpPr>
          <p:cNvPr id="13" name="Marca Segmentación"/>
          <p:cNvSpPr/>
          <p:nvPr/>
        </p:nvSpPr>
        <p:spPr>
          <a:xfrm>
            <a:off x="5166360" y="3182112"/>
            <a:ext cx="73152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49240" y="318211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Segmentación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349240" y="34198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Clústeres en el espacio PCA en 2D o 3D</a:t>
            </a:r>
            <a:endParaRPr lang="en-US" sz="1000" dirty="0"/>
          </a:p>
        </p:txBody>
      </p:sp>
      <p:sp>
        <p:nvSpPr>
          <p:cNvPr id="16" name="Marca Explicabilidad"/>
          <p:cNvSpPr/>
          <p:nvPr/>
        </p:nvSpPr>
        <p:spPr>
          <a:xfrm>
            <a:off x="5166360" y="3785616"/>
            <a:ext cx="73152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49240" y="378561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Explicabilidad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40233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Métricas, SMART y SHAP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metabric-proyecto-integrador.streamlit.app · Streamlit Community Cloud · Demostración en vivo.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Las seis metas SMART se cumplieron en el conjunto de prueba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219456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8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≥ 0,20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0,260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menor que el modelo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0,902 frente a 0,949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 ≥ 0,75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= 0,792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Superar al modelo base en CV (0,698)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CV = 0,739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 de sobreajuste &lt; 0,15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 = 0,123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Codo, silueta, segundo algoritmo y perfiles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4; Ward y DBSCAN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Limitaciones y próximos pasos</a:t>
            </a:r>
            <a:endParaRPr lang="en-US" sz="2200" dirty="0"/>
          </a:p>
        </p:txBody>
      </p:sp>
      <p:sp>
        <p:nvSpPr>
          <p:cNvPr id="3" name="Limitaciones"/>
          <p:cNvSpPr/>
          <p:nvPr/>
        </p:nvSpPr>
        <p:spPr>
          <a:xfrm>
            <a:off x="457200" y="1417320"/>
            <a:ext cx="397764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Limitaciones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01952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Prueba de 286 pacientes: poca potencia para diferencias pequeñas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Un solo estudio (Reino Unido y Canadá), sin validación externa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489 genes preseleccionados, no el transcriptoma completo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El NPI es un índice aproximado del pronóstico</a:t>
            </a:r>
            <a:endParaRPr lang="en-US" sz="1100" dirty="0"/>
          </a:p>
        </p:txBody>
      </p:sp>
      <p:sp>
        <p:nvSpPr>
          <p:cNvPr id="6" name="Próximos pasos"/>
          <p:cNvSpPr/>
          <p:nvPr/>
        </p:nvSpPr>
        <p:spPr>
          <a:xfrm>
            <a:off x="4709160" y="1417320"/>
            <a:ext cx="3977640" cy="2834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Próximos pasos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01952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Corregir el efecto de lote con ComBat antes de segmentar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Modelar la supervivencia con Cox regularizado o bosques de supervivencia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Validar en una cohorte externa (TCGA-BRCA)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Calibrar las probabilidades del clasificador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 de la Universidad de La Sa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1581912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R² 0,26 · F1 0,79 · 4 perfiles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194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 biología del tumor anticipa parte del pronóstico, identifica el subtipo molecular con alta precisión y agrupa a las pacientes en perfiles de riesgo, con un diseño reproducible y sin fuga de información.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Preguntas y comentarios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github.com/MartinGia/metabric-proyecto-integrador · metabric-proyecto-integrador.streamlit.app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 Salle MIA">
  <a:themeElements>
    <a:clrScheme name="La Salle MIA">
      <a:dk1>
        <a:srgbClr val="1F2933"/>
      </a:dk1>
      <a:lt1>
        <a:srgbClr val="FFFFFF"/>
      </a:lt1>
      <a:dk2>
        <a:srgbClr val="0E2841"/>
      </a:dk2>
      <a:lt2>
        <a:srgbClr val="EAF2F6"/>
      </a:lt2>
      <a:accent1>
        <a:srgbClr val="147089"/>
      </a:accent1>
      <a:accent2>
        <a:srgbClr val="FCB50F"/>
      </a:accent2>
      <a:accent3>
        <a:srgbClr val="6DC2DE"/>
      </a:accent3>
      <a:accent4>
        <a:srgbClr val="E97132"/>
      </a:accent4>
      <a:accent5>
        <a:srgbClr val="64748B"/>
      </a:accent5>
      <a:accent6>
        <a:srgbClr val="9FB8C4"/>
      </a:accent6>
      <a:hlink>
        <a:srgbClr val="147089"/>
      </a:hlink>
      <a:folHlink>
        <a:srgbClr val="0E2841"/>
      </a:folHlink>
    </a:clrScheme>
    <a:fontScheme name="La Salle M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Pronóstico y subtipo molecular del cáncer de mama con METABRIC</dc:title>
  <dc:subject>PptxGenJS Presentation</dc:subject>
  <dc:creator>Martín Gracia Socha</dc:creator>
  <cp:lastModifiedBy>Martín Gracia Socha</cp:lastModifiedBy>
  <cp:revision>1</cp:revision>
  <dcterms:created xsi:type="dcterms:W3CDTF">2026-10-25T17:32:08Z</dcterms:created>
  <dcterms:modified xsi:type="dcterms:W3CDTF">2026-10-25T17:32:08Z</dcterms:modified>
</cp:coreProperties>
</file>